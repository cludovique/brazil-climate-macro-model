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Relationship Id="rId11" Type="http://schemas.openxmlformats.org/officeDocument/2006/relationships/slide" Target="slides/slide4.xml"/>
<Relationship Id="rId12" Type="http://schemas.openxmlformats.org/officeDocument/2006/relationships/slide" Target="slides/slide5.xml"/>
<Relationship Id="rId13" Type="http://schemas.openxmlformats.org/officeDocument/2006/relationships/slide" Target="slides/slide6.xml"/>
<Relationship Id="rId14" Type="http://schemas.openxmlformats.org/officeDocument/2006/relationships/slide" Target="slides/slide7.xml"/>
<Relationship Id="rId15" Type="http://schemas.openxmlformats.org/officeDocument/2006/relationships/slide" Target="slides/slide8.xml"/>
<Relationship Id="rId16" Type="http://schemas.openxmlformats.org/officeDocument/2006/relationships/slide" Target="slides/slide9.xml"/>
<Relationship Id="rId17" Type="http://schemas.openxmlformats.org/officeDocument/2006/relationships/slide" Target="slides/slide10.xml"/>
<Relationship Id="rId18" Type="http://schemas.openxmlformats.org/officeDocument/2006/relationships/slide" Target="slides/slide1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6ea22f68e57318aead198f5667e53a2faae650e6.png"/>
<Relationship Id="rId3" Type="http://schemas.openxmlformats.org/officeDocument/2006/relationships/image" Target="../media/16e943e8932c4d84138e921381fd1974cd37a5b8.png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6ea22f68e57318aead198f5667e53a2faae650e6.png"/>
<Relationship Id="rId3" Type="http://schemas.openxmlformats.org/officeDocument/2006/relationships/image" Target="../media/16e943e8932c4d84138e921381fd1974cd37a5b8.png"/>
<Relationship Id="rId4" Type="http://schemas.openxmlformats.org/officeDocument/2006/relationships/image" Target="../media/68b1bb8c6160044d17ae1e456acbb84e9c5d18b5.png"/>
<Relationship Id="rId5" Type="http://schemas.openxmlformats.org/officeDocument/2006/relationships/image" Target="../media/acb003c9c4e48f934bb76a45c10cef55b053b833.png"/>
<Relationship Id="rId6" Type="http://schemas.openxmlformats.org/officeDocument/2006/relationships/image" Target="../media/ab457fdfe90f723f1944c153e5a3ecb3dce966f1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6ea22f68e57318aead198f5667e53a2faae650e6.png"/>
<Relationship Id="rId3" Type="http://schemas.openxmlformats.org/officeDocument/2006/relationships/image" Target="../media/16e943e8932c4d84138e921381fd1974cd37a5b8.png"/>
<Relationship Id="rId4" Type="http://schemas.openxmlformats.org/officeDocument/2006/relationships/image" Target="../media/fae2b6eeddaf52d7185acc7fd5c30d63f62bcd0f.png"/>
<Relationship Id="rId5" Type="http://schemas.openxmlformats.org/officeDocument/2006/relationships/image" Target="../media/4d8d289c295c2f17e134be33bf1a02c10717d3c9.png"/>
<Relationship Id="rId6" Type="http://schemas.openxmlformats.org/officeDocument/2006/relationships/image" Target="../media/17ca37c64e1add279100c9b583e26f41c5a3999e.png"/>
<Relationship Id="rId7" Type="http://schemas.openxmlformats.org/officeDocument/2006/relationships/image" Target="../media/11c6bf698db80aabc5fb754730bded57d1331816.png"/>
<Relationship Id="rId8" Type="http://schemas.openxmlformats.org/officeDocument/2006/relationships/image" Target="../media/0e6d69426d1782ba8924dd94670e7aedce870126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6ea22f68e57318aead198f5667e53a2faae650e6.png"/>
<Relationship Id="rId3" Type="http://schemas.openxmlformats.org/officeDocument/2006/relationships/image" Target="../media/16e943e8932c4d84138e921381fd1974cd37a5b8.png"/>
<Relationship Id="rId4" Type="http://schemas.openxmlformats.org/officeDocument/2006/relationships/image" Target="../media/68b1bb8c6160044d17ae1e456acbb84e9c5d18b5.png"/>
<Relationship Id="rId5" Type="http://schemas.openxmlformats.org/officeDocument/2006/relationships/image" Target="../media/acb003c9c4e48f934bb76a45c10cef55b053b833.png"/>
<Relationship Id="rId6" Type="http://schemas.openxmlformats.org/officeDocument/2006/relationships/image" Target="../media/ab457fdfe90f723f1944c153e5a3ecb3dce966f1.png"/>
<Relationship Id="rId7" Type="http://schemas.openxmlformats.org/officeDocument/2006/relationships/image" Target="../media/2a8f1afba6fffed3a27f509ab049a8b73c8990d0.png"/>
<Relationship Id="rId8" Type="http://schemas.openxmlformats.org/officeDocument/2006/relationships/image" Target="../media/2ba375391c544b10f701ad2cbc39b3893ead7d54.png"/>
<Relationship Id="rId9" Type="http://schemas.openxmlformats.org/officeDocument/2006/relationships/image" Target="../media/363767a7d4fb4b8f9abc4838ba00c43c4feec8a2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6ea22f68e57318aead198f5667e53a2faae650e6.png"/>
<Relationship Id="rId3" Type="http://schemas.openxmlformats.org/officeDocument/2006/relationships/image" Target="../media/acb003c9c4e48f934bb76a45c10cef55b053b833.png"/>
<Relationship Id="rId4" Type="http://schemas.openxmlformats.org/officeDocument/2006/relationships/image" Target="../media/68b1bb8c6160044d17ae1e456acbb84e9c5d18b5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6ea22f68e57318aead198f5667e53a2faae650e6.png"/>
<Relationship Id="rId3" Type="http://schemas.openxmlformats.org/officeDocument/2006/relationships/image" Target="../media/ab457fdfe90f723f1944c153e5a3ecb3dce966f1.png"/>
<Relationship Id="rId4" Type="http://schemas.openxmlformats.org/officeDocument/2006/relationships/image" Target="../media/68b1bb8c6160044d17ae1e456acbb84e9c5d18b5.png"/>
<Relationship Id="rId5" Type="http://schemas.openxmlformats.org/officeDocument/2006/relationships/image" Target="../media/acb003c9c4e48f934bb76a45c10cef55b053b833.png"/>
<Relationship Id="rId6" Type="http://schemas.openxmlformats.org/officeDocument/2006/relationships/image" Target="../media/16e943e8932c4d84138e921381fd1974cd37a5b8.png"/>
<Relationship Id="rId7" Type="http://schemas.openxmlformats.org/officeDocument/2006/relationships/image" Target="../media/2a8f1afba6fffed3a27f509ab049a8b73c8990d0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6ea22f68e57318aead198f5667e53a2faae650e6.png"/>
<Relationship Id="rId3" Type="http://schemas.openxmlformats.org/officeDocument/2006/relationships/image" Target="../media/acb003c9c4e48f934bb76a45c10cef55b053b833.png"/>
<Relationship Id="rId4" Type="http://schemas.openxmlformats.org/officeDocument/2006/relationships/image" Target="../media/68b1bb8c6160044d17ae1e456acbb84e9c5d18b5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6ea22f68e57318aead198f5667e53a2faae650e6.png"/>
<Relationship Id="rId3" Type="http://schemas.openxmlformats.org/officeDocument/2006/relationships/image" Target="../media/16e943e8932c4d84138e921381fd1974cd37a5b8.png"/>
<Relationship Id="rId4" Type="http://schemas.openxmlformats.org/officeDocument/2006/relationships/image" Target="../media/68b1bb8c6160044d17ae1e456acbb84e9c5d18b5.png"/>
<Relationship Id="rId5" Type="http://schemas.openxmlformats.org/officeDocument/2006/relationships/image" Target="../media/7a8deca9d762c29f7454b4db60eae9cf0c20c7ab.png"/>
<Relationship Id="rId6" Type="http://schemas.openxmlformats.org/officeDocument/2006/relationships/image" Target="../media/74569d055e4808995fdcb2b0192320ab3590cbb2.png"/>
<Relationship Id="rId7" Type="http://schemas.openxmlformats.org/officeDocument/2006/relationships/image" Target="../media/b051705602d922d73e1a92dbeec210e8db8925e6.png"/>
<Relationship Id="rId8" Type="http://schemas.openxmlformats.org/officeDocument/2006/relationships/image" Target="../media/e663bcf821cbc370413a1ec057aebe052077b305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6ea22f68e57318aead198f5667e53a2faae650e6.png"/>
<Relationship Id="rId3" Type="http://schemas.openxmlformats.org/officeDocument/2006/relationships/image" Target="../media/2a8f1afba6fffed3a27f509ab049a8b73c8990d0.png"/>
<Relationship Id="rId4" Type="http://schemas.openxmlformats.org/officeDocument/2006/relationships/image" Target="../media/ecb80f5de9cbed6d037ed93ade015c1091315c6f.png"/>
<Relationship Id="rId5" Type="http://schemas.openxmlformats.org/officeDocument/2006/relationships/image" Target="../media/68b1bb8c6160044d17ae1e456acbb84e9c5d18b5.png"/>
<Relationship Id="rId6" Type="http://schemas.openxmlformats.org/officeDocument/2006/relationships/image" Target="../media/16e943e8932c4d84138e921381fd1974cd37a5b8.png"/>
<Relationship Id="rId7" Type="http://schemas.openxmlformats.org/officeDocument/2006/relationships/image" Target="../media/ab457fdfe90f723f1944c153e5a3ecb3dce966f1.png"/>
<Relationship Id="rId8" Type="http://schemas.openxmlformats.org/officeDocument/2006/relationships/image" Target="../media/acb003c9c4e48f934bb76a45c10cef55b053b833.png"/>
<Relationship Id="rId9" Type="http://schemas.openxmlformats.org/officeDocument/2006/relationships/image" Target="../media/02c94b10232c3f4f038d0b54da79ba5f0f6eeba1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6ea22f68e57318aead198f5667e53a2faae650e6.png"/>
<Relationship Id="rId3" Type="http://schemas.openxmlformats.org/officeDocument/2006/relationships/image" Target="../media/acb003c9c4e48f934bb76a45c10cef55b053b833.png"/>
<Relationship Id="rId4" Type="http://schemas.openxmlformats.org/officeDocument/2006/relationships/image" Target="../media/68b1bb8c6160044d17ae1e456acbb84e9c5d18b5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6ea22f68e57318aead198f5667e53a2faae650e6.png"/>
<Relationship Id="rId3" Type="http://schemas.openxmlformats.org/officeDocument/2006/relationships/image" Target="../media/16e943e8932c4d84138e921381fd1974cd37a5b8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47472" y="1417320"/>
            <a:ext cx="64008" cy="393192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640080" y="1417320"/>
            <a:ext cx="8229600" cy="10058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000" i="0" b="1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MIP × MMA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40080" y="2514600"/>
            <a:ext cx="7772400" cy="1371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0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Avaliando os Impactos Macroeconômicos
da Transição Energética Brasileira</a:t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640080" y="397764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Modelo de Insumo-Produto EPE/FIPE (73 setores)  ×  Cenários MMA-SMC v3 AR5 (2024)</a:t>
            </a:r>
          </a:p>
        </p:txBody>
      </p:sp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640080" y="5852160"/>
            <a:ext cx="45720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Reunião Técnica PPE  ·  Junho 2025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4572000" y="5852160"/>
            <a:ext cx="4297680" cy="365760"/>
          </a:xfr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1" b="0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cludovique.github.io/brazil-climate-macro-model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82296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365760" y="9144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Por que este modelo?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182880" y="960120"/>
            <a:ext cx="2880360" cy="521208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292608" y="1024128"/>
            <a:ext cx="2651760" cy="54864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320040" y="1115568"/>
            <a:ext cx="26517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O Brasil tem metas ambiciosas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320040" y="1664208"/>
            <a:ext cx="2651760" cy="429768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Cenário 100D (MMA-SMC v3): descarbonização total até 2050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Setores: Energia, Indústria, Transporte, Cidades, Agropecuária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Plano de R$1+ tri em investimentos de transição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Mas: quais são os impactos econômicos setoriais?</a:t>
            </a:r>
          </a:p>
        </p:txBody>
      </p:sp>
      <p:pic>
        <p:nvPicPr>
          <p:cNvPr id="9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3172968" y="960120"/>
            <a:ext cx="2880360" cy="521208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10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3282696" y="1024128"/>
            <a:ext cx="2651760" cy="54864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p:ph/>
          </p:nvPr>
        </p:nvSpPr>
        <p:spPr>
          <a:xfrm>
            <a:off x="3310128" y="1115568"/>
            <a:ext cx="26517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 lacuna analítica</a:t>
            </a:r>
          </a:p>
        </p:txBody>
      </p:sp>
      <p:sp>
        <p:nvSpPr>
          <p:cNvPr id="12" name=""/>
          <p:cNvSpPr>
            <a:spLocks noGrp="1"/>
          </p:cNvSpPr>
          <p:nvPr>
            <p:ph/>
          </p:nvPr>
        </p:nvSpPr>
        <p:spPr>
          <a:xfrm>
            <a:off x="3310128" y="1664208"/>
            <a:ext cx="2651760" cy="429768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Cenários MMA expressos em unidades físicas (TWh, Mt, kbep)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Não há tradução automática para R$, empregos e PIB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Multiplicadores setoriais variam 2×–12× entre setores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Decisões de política precisam de números econômicos</a:t>
            </a:r>
          </a:p>
        </p:txBody>
      </p:sp>
      <p:pic>
        <p:nvPicPr>
          <p:cNvPr id="13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163056" y="960120"/>
            <a:ext cx="2880360" cy="521208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1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6272784" y="1024128"/>
            <a:ext cx="2651760" cy="54864"/>
          </a:xfrm>
          <a:prstGeom prst="rect">
            <a:avLst/>
          </a:prstGeom>
        </p:spPr>
      </p:pic>
      <p:sp>
        <p:nvSpPr>
          <p:cNvPr id="15" name=""/>
          <p:cNvSpPr>
            <a:spLocks noGrp="1"/>
          </p:cNvSpPr>
          <p:nvPr>
            <p:ph/>
          </p:nvPr>
        </p:nvSpPr>
        <p:spPr>
          <a:xfrm>
            <a:off x="6300216" y="1115568"/>
            <a:ext cx="26517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 ponte: MIP × MMA</a:t>
            </a:r>
          </a:p>
        </p:txBody>
      </p:sp>
      <p:sp>
        <p:nvSpPr>
          <p:cNvPr id="16" name=""/>
          <p:cNvSpPr>
            <a:spLocks noGrp="1"/>
          </p:cNvSpPr>
          <p:nvPr>
            <p:ph/>
          </p:nvPr>
        </p:nvSpPr>
        <p:spPr>
          <a:xfrm>
            <a:off x="6300216" y="1664208"/>
            <a:ext cx="2651760" cy="429768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MIP-EPE 2018: modelo Leontief de 73 setores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3 engines: Demanda Final, Coef. Técnicos, Produção Física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Mapeia targets físicos → ΔProdução, ΔPIB, ΔEmprego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Dashboard interativo para exploração de cenários</a:t>
            </a:r>
          </a:p>
        </p:txBody>
      </p:sp>
      <p:sp>
        <p:nvSpPr>
          <p:cNvPr id="17" name=""/>
          <p:cNvSpPr>
            <a:spLocks noGrp="1"/>
          </p:cNvSpPr>
          <p:nvPr>
            <p:ph/>
          </p:nvPr>
        </p:nvSpPr>
        <p:spPr>
          <a:xfrm>
            <a:off x="274320" y="6309360"/>
            <a:ext cx="8595360" cy="36576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Abordagem macroeconômica setorial, compatível com BLUES/EPE e metodologia IPCC AR5.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82296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365760" y="9144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Arquitetura do Modelo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137160" y="987552"/>
            <a:ext cx="2377440" cy="32004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ENTRADAS</a:t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2743200" y="987552"/>
            <a:ext cx="3931920" cy="32004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ENGINES</a:t>
            </a:r>
          </a:p>
        </p:txBody>
      </p:sp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6949440" y="987552"/>
            <a:ext cx="1920240" cy="32004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RESULTADOS</a:t>
            </a:r>
          </a:p>
        </p:txBody>
      </p:sp>
      <p:pic>
        <p:nvPicPr>
          <p:cNvPr id="8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137160" y="1371600"/>
            <a:ext cx="2377440" cy="201168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137160" y="1463040"/>
            <a:ext cx="2377440" cy="59436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Cenários MMA-SMC
v3 AR5 (2024)</a:t>
            </a:r>
          </a:p>
        </p:txBody>
      </p:sp>
      <p:sp>
        <p:nvSpPr>
          <p:cNvPr id="10" name=""/>
          <p:cNvSpPr>
            <a:spLocks noGrp="1"/>
          </p:cNvSpPr>
          <p:nvPr>
            <p:ph/>
          </p:nvPr>
        </p:nvSpPr>
        <p:spPr>
          <a:xfrm>
            <a:off x="182880" y="2103120"/>
            <a:ext cx="2286000" cy="118872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Mix energético 2025–2050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Volumes físicos (TWh, Mt)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Investimentos (bi USD)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GHG por setor</a:t>
            </a:r>
          </a:p>
        </p:txBody>
      </p:sp>
      <p:pic>
        <p:nvPicPr>
          <p:cNvPr id="11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137160" y="3566160"/>
            <a:ext cx="2377440" cy="201168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12" name=""/>
          <p:cNvSpPr>
            <a:spLocks noGrp="1"/>
          </p:cNvSpPr>
          <p:nvPr>
            <p:ph/>
          </p:nvPr>
        </p:nvSpPr>
        <p:spPr>
          <a:xfrm>
            <a:off x="137160" y="3657600"/>
            <a:ext cx="2377440" cy="59436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MIP-EPE 2018
73 Setores</a:t>
            </a:r>
          </a:p>
        </p:txBody>
      </p:sp>
      <p:sp>
        <p:nvSpPr>
          <p:cNvPr id="13" name=""/>
          <p:cNvSpPr>
            <a:spLocks noGrp="1"/>
          </p:cNvSpPr>
          <p:nvPr>
            <p:ph/>
          </p:nvPr>
        </p:nvSpPr>
        <p:spPr>
          <a:xfrm>
            <a:off x="182880" y="4251960"/>
            <a:ext cx="2286000" cy="123444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Matriz A (coef. técnicos)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Leontief L = (I-A)⁻¹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Satélites: VA, Empregos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ALPHA: ktep/R$M (6 fontes)</a:t>
            </a:r>
          </a:p>
        </p:txBody>
      </p:sp>
      <p:sp>
        <p:nvSpPr>
          <p:cNvPr id="14" name=""/>
          <p:cNvSpPr>
            <a:spLocks noGrp="1"/>
          </p:cNvSpPr>
          <p:nvPr>
            <p:ph/>
          </p:nvPr>
        </p:nvSpPr>
        <p:spPr>
          <a:xfrm>
            <a:off x="2542032" y="2148840"/>
            <a:ext cx="274320" cy="41148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→</a:t>
            </a:r>
          </a:p>
        </p:txBody>
      </p:sp>
      <p:sp>
        <p:nvSpPr>
          <p:cNvPr id="15" name=""/>
          <p:cNvSpPr>
            <a:spLocks noGrp="1"/>
          </p:cNvSpPr>
          <p:nvPr>
            <p:ph/>
          </p:nvPr>
        </p:nvSpPr>
        <p:spPr>
          <a:xfrm>
            <a:off x="2542032" y="3566160"/>
            <a:ext cx="274320" cy="41148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→</a:t>
            </a:r>
          </a:p>
        </p:txBody>
      </p:sp>
      <p:sp>
        <p:nvSpPr>
          <p:cNvPr id="16" name=""/>
          <p:cNvSpPr>
            <a:spLocks noGrp="1"/>
          </p:cNvSpPr>
          <p:nvPr>
            <p:ph/>
          </p:nvPr>
        </p:nvSpPr>
        <p:spPr>
          <a:xfrm>
            <a:off x="6675120" y="3017520"/>
            <a:ext cx="274320" cy="45720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→</a:t>
            </a:r>
          </a:p>
        </p:txBody>
      </p:sp>
      <p:pic>
        <p:nvPicPr>
          <p:cNvPr id="17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2743200" y="1371600"/>
            <a:ext cx="3931920" cy="123444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18" name=""/>
          <p:cNvSpPr>
            <a:spLocks noGrp="1"/>
          </p:cNvSpPr>
          <p:nvPr>
            <p:ph/>
          </p:nvPr>
        </p:nvSpPr>
        <p:spPr>
          <a:xfrm>
            <a:off x="2880360" y="1444752"/>
            <a:ext cx="374904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Engine 1: Demanda Final (Δf)</a:t>
            </a:r>
          </a:p>
        </p:txBody>
      </p:sp>
      <p:sp>
        <p:nvSpPr>
          <p:cNvPr id="19" name=""/>
          <p:cNvSpPr>
            <a:spLocks noGrp="1"/>
          </p:cNvSpPr>
          <p:nvPr>
            <p:ph/>
          </p:nvPr>
        </p:nvSpPr>
        <p:spPr>
          <a:xfrm>
            <a:off x="2880360" y="1920240"/>
            <a:ext cx="3749040" cy="59436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1a: Escala do PIB (gdp_idx × f_base)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1b: Investimento de transição (ALOC_INV)</a:t>
            </a:r>
          </a:p>
        </p:txBody>
      </p:sp>
      <p:pic>
        <p:nvPicPr>
          <p:cNvPr id="20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2743200" y="2788920"/>
            <a:ext cx="3931920" cy="123444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21" name=""/>
          <p:cNvSpPr>
            <a:spLocks noGrp="1"/>
          </p:cNvSpPr>
          <p:nvPr>
            <p:ph/>
          </p:nvPr>
        </p:nvSpPr>
        <p:spPr>
          <a:xfrm>
            <a:off x="2880360" y="2862072"/>
            <a:ext cx="374904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Engine 2: Coef. Técnicos (ΔA)</a:t>
            </a:r>
          </a:p>
        </p:txBody>
      </p:sp>
      <p:sp>
        <p:nvSpPr>
          <p:cNvPr id="22" name=""/>
          <p:cNvSpPr>
            <a:spLocks noGrp="1"/>
          </p:cNvSpPr>
          <p:nvPr>
            <p:ph/>
          </p:nvPr>
        </p:nvSpPr>
        <p:spPr>
          <a:xfrm>
            <a:off x="2880360" y="3337560"/>
            <a:ext cx="3749040" cy="59436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BLUES-style: sc = share_novo / share_base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6 grupos: Indústria, Transporte, Cidades, Geração…</a:t>
            </a:r>
          </a:p>
        </p:txBody>
      </p:sp>
      <p:pic>
        <p:nvPicPr>
          <p:cNvPr id="23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2743200" y="4206240"/>
            <a:ext cx="3931920" cy="123444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24" name=""/>
          <p:cNvSpPr>
            <a:spLocks noGrp="1"/>
          </p:cNvSpPr>
          <p:nvPr>
            <p:ph/>
          </p:nvPr>
        </p:nvSpPr>
        <p:spPr>
          <a:xfrm>
            <a:off x="2880360" y="4279392"/>
            <a:ext cx="374904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Engine 3: Produção Física (Δx)</a:t>
            </a:r>
          </a:p>
        </p:txBody>
      </p:sp>
      <p:sp>
        <p:nvSpPr>
          <p:cNvPr id="25" name=""/>
          <p:cNvSpPr>
            <a:spLocks noGrp="1"/>
          </p:cNvSpPr>
          <p:nvPr>
            <p:ph/>
          </p:nvPr>
        </p:nvSpPr>
        <p:spPr>
          <a:xfrm>
            <a:off x="2880360" y="4754880"/>
            <a:ext cx="3749040" cy="59436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Volumes MMA → calibração R$ setorial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Petróleo, Eletricidade, Biocomb., Siderurgia</a:t>
            </a:r>
          </a:p>
        </p:txBody>
      </p:sp>
      <p:pic>
        <p:nvPicPr>
          <p:cNvPr id="26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6949440" y="1371600"/>
            <a:ext cx="2011680" cy="466344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27" name=""/>
          <p:cNvSpPr>
            <a:spLocks noGrp="1"/>
          </p:cNvSpPr>
          <p:nvPr>
            <p:ph/>
          </p:nvPr>
        </p:nvSpPr>
        <p:spPr>
          <a:xfrm>
            <a:off x="6949440" y="1463040"/>
            <a:ext cx="2011680" cy="36576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RESULTADOS</a:t>
            </a:r>
          </a:p>
        </p:txBody>
      </p:sp>
      <p:sp>
        <p:nvSpPr>
          <p:cNvPr id="28" name=""/>
          <p:cNvSpPr>
            <a:spLocks noGrp="1"/>
          </p:cNvSpPr>
          <p:nvPr>
            <p:ph/>
          </p:nvPr>
        </p:nvSpPr>
        <p:spPr>
          <a:xfrm>
            <a:off x="6995160" y="1920240"/>
            <a:ext cx="1920240" cy="384048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Δ Produção (R$ tri)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Δ PIB / VA (R$ bi)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Δ Empregos (mi)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Δ Renda salarial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Prêmio da Transição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Mix energético A*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Multiplicadores L*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GHG induzido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82296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365760" y="9144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Base: MIP-EPE 2018 (73 setores)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274320" y="1005840"/>
            <a:ext cx="2103120" cy="150876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38328" y="1143000"/>
            <a:ext cx="64008" cy="1188720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502920" y="1143000"/>
            <a:ext cx="182880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R$ 10,7 tri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502920" y="1664208"/>
            <a:ext cx="1828800" cy="34747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Produção Total Bruta</a:t>
            </a:r>
          </a:p>
        </p:txBody>
      </p:sp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502920" y="2011680"/>
            <a:ext cx="1828800" cy="34747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VBP a preços básicos · 2018</a:t>
            </a:r>
          </a:p>
        </p:txBody>
      </p:sp>
      <p:pic>
        <p:nvPicPr>
          <p:cNvPr id="10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2514600" y="1005840"/>
            <a:ext cx="2103120" cy="150876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11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2578608" y="1143000"/>
            <a:ext cx="64008" cy="1188720"/>
          </a:xfrm>
          <a:prstGeom prst="rect">
            <a:avLst/>
          </a:prstGeom>
        </p:spPr>
      </p:pic>
      <p:sp>
        <p:nvSpPr>
          <p:cNvPr id="12" name=""/>
          <p:cNvSpPr>
            <a:spLocks noGrp="1"/>
          </p:cNvSpPr>
          <p:nvPr>
            <p:ph/>
          </p:nvPr>
        </p:nvSpPr>
        <p:spPr>
          <a:xfrm>
            <a:off x="2743200" y="1143000"/>
            <a:ext cx="182880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R$ 6,0 tri</a:t>
            </a:r>
          </a:p>
        </p:txBody>
      </p:sp>
      <p:sp>
        <p:nvSpPr>
          <p:cNvPr id="13" name=""/>
          <p:cNvSpPr>
            <a:spLocks noGrp="1"/>
          </p:cNvSpPr>
          <p:nvPr>
            <p:ph/>
          </p:nvPr>
        </p:nvSpPr>
        <p:spPr>
          <a:xfrm>
            <a:off x="2743200" y="1664208"/>
            <a:ext cx="1828800" cy="34747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Valor Adicionado (PIB)</a:t>
            </a:r>
          </a:p>
        </p:txBody>
      </p:sp>
      <p:sp>
        <p:nvSpPr>
          <p:cNvPr id="14" name=""/>
          <p:cNvSpPr>
            <a:spLocks noGrp="1"/>
          </p:cNvSpPr>
          <p:nvPr>
            <p:ph/>
          </p:nvPr>
        </p:nvSpPr>
        <p:spPr>
          <a:xfrm>
            <a:off x="2743200" y="2011680"/>
            <a:ext cx="1828800" cy="34747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VA a preços básicos · 2018</a:t>
            </a:r>
          </a:p>
        </p:txBody>
      </p:sp>
      <p:pic>
        <p:nvPicPr>
          <p:cNvPr id="15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274320" y="2743200"/>
            <a:ext cx="2103120" cy="150876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16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338328" y="2880360"/>
            <a:ext cx="64008" cy="1188720"/>
          </a:xfrm>
          <a:prstGeom prst="rect">
            <a:avLst/>
          </a:prstGeom>
        </p:spPr>
      </p:pic>
      <p:sp>
        <p:nvSpPr>
          <p:cNvPr id="17" name=""/>
          <p:cNvSpPr>
            <a:spLocks noGrp="1"/>
          </p:cNvSpPr>
          <p:nvPr>
            <p:ph/>
          </p:nvPr>
        </p:nvSpPr>
        <p:spPr>
          <a:xfrm>
            <a:off x="502920" y="2880360"/>
            <a:ext cx="182880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378AD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104,3 mi</a:t>
            </a:r>
          </a:p>
        </p:txBody>
      </p:sp>
      <p:sp>
        <p:nvSpPr>
          <p:cNvPr id="18" name=""/>
          <p:cNvSpPr>
            <a:spLocks noGrp="1"/>
          </p:cNvSpPr>
          <p:nvPr>
            <p:ph/>
          </p:nvPr>
        </p:nvSpPr>
        <p:spPr>
          <a:xfrm>
            <a:off x="502920" y="3401568"/>
            <a:ext cx="1828800" cy="34747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Postos de Trabalho</a:t>
            </a:r>
          </a:p>
        </p:txBody>
      </p:sp>
      <p:sp>
        <p:nvSpPr>
          <p:cNvPr id="19" name=""/>
          <p:cNvSpPr>
            <a:spLocks noGrp="1"/>
          </p:cNvSpPr>
          <p:nvPr>
            <p:ph/>
          </p:nvPr>
        </p:nvSpPr>
        <p:spPr>
          <a:xfrm>
            <a:off x="502920" y="3749040"/>
            <a:ext cx="1828800" cy="34747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Ocupações formais + informais</a:t>
            </a:r>
          </a:p>
        </p:txBody>
      </p:sp>
      <p:pic>
        <p:nvPicPr>
          <p:cNvPr id="20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2514600" y="2743200"/>
            <a:ext cx="2103120" cy="150876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21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2578608" y="2880360"/>
            <a:ext cx="64008" cy="1188720"/>
          </a:xfrm>
          <a:prstGeom prst="rect">
            <a:avLst/>
          </a:prstGeom>
        </p:spPr>
      </p:pic>
      <p:sp>
        <p:nvSpPr>
          <p:cNvPr id="22" name=""/>
          <p:cNvSpPr>
            <a:spLocks noGrp="1"/>
          </p:cNvSpPr>
          <p:nvPr>
            <p:ph/>
          </p:nvPr>
        </p:nvSpPr>
        <p:spPr>
          <a:xfrm>
            <a:off x="2743200" y="2880360"/>
            <a:ext cx="182880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73 setores</a:t>
            </a:r>
          </a:p>
        </p:txBody>
      </p:sp>
      <p:sp>
        <p:nvSpPr>
          <p:cNvPr id="23" name=""/>
          <p:cNvSpPr>
            <a:spLocks noGrp="1"/>
          </p:cNvSpPr>
          <p:nvPr>
            <p:ph/>
          </p:nvPr>
        </p:nvSpPr>
        <p:spPr>
          <a:xfrm>
            <a:off x="2743200" y="3401568"/>
            <a:ext cx="1828800" cy="34747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Setores da Economia</a:t>
            </a:r>
          </a:p>
        </p:txBody>
      </p:sp>
      <p:sp>
        <p:nvSpPr>
          <p:cNvPr id="24" name=""/>
          <p:cNvSpPr>
            <a:spLocks noGrp="1"/>
          </p:cNvSpPr>
          <p:nvPr>
            <p:ph/>
          </p:nvPr>
        </p:nvSpPr>
        <p:spPr>
          <a:xfrm>
            <a:off x="2743200" y="3749040"/>
            <a:ext cx="1828800" cy="34747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Classificação EPE/FIPE · IBGE</a:t>
            </a:r>
          </a:p>
        </p:txBody>
      </p:sp>
      <p:pic>
        <p:nvPicPr>
          <p:cNvPr id="25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4800600" y="1005840"/>
            <a:ext cx="4160520" cy="539496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26" name=""/>
          <p:cNvSpPr>
            <a:spLocks noGrp="1"/>
          </p:cNvSpPr>
          <p:nvPr>
            <p:ph/>
          </p:nvPr>
        </p:nvSpPr>
        <p:spPr>
          <a:xfrm>
            <a:off x="4983480" y="1097280"/>
            <a:ext cx="384048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Satélite Energético — Matriz ALPHA</a:t>
            </a:r>
          </a:p>
        </p:txBody>
      </p:sp>
      <p:sp>
        <p:nvSpPr>
          <p:cNvPr id="27" name=""/>
          <p:cNvSpPr>
            <a:spLocks noGrp="1"/>
          </p:cNvSpPr>
          <p:nvPr>
            <p:ph/>
          </p:nvPr>
        </p:nvSpPr>
        <p:spPr>
          <a:xfrm>
            <a:off x="4983480" y="1508760"/>
            <a:ext cx="3840480" cy="320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ktep por R$ Milhão de produção  ×  73 setores  ×  6 fontes</a:t>
            </a:r>
          </a:p>
        </p:txBody>
      </p:sp>
      <p:pic>
        <p:nvPicPr>
          <p:cNvPr id="28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5001768" y="1920240"/>
            <a:ext cx="64008" cy="457200"/>
          </a:xfrm>
          <a:prstGeom prst="rect">
            <a:avLst/>
          </a:prstGeom>
        </p:spPr>
      </p:pic>
      <p:sp>
        <p:nvSpPr>
          <p:cNvPr id="29" name=""/>
          <p:cNvSpPr>
            <a:spLocks noGrp="1"/>
          </p:cNvSpPr>
          <p:nvPr>
            <p:ph/>
          </p:nvPr>
        </p:nvSpPr>
        <p:spPr>
          <a:xfrm>
            <a:off x="5166360" y="1920240"/>
            <a:ext cx="237744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Derivados de Petróleo</a:t>
            </a:r>
          </a:p>
        </p:txBody>
      </p:sp>
      <p:sp>
        <p:nvSpPr>
          <p:cNvPr id="30" name=""/>
          <p:cNvSpPr>
            <a:spLocks noGrp="1"/>
          </p:cNvSpPr>
          <p:nvPr>
            <p:ph/>
          </p:nvPr>
        </p:nvSpPr>
        <p:spPr>
          <a:xfrm>
            <a:off x="5166360" y="2194560"/>
            <a:ext cx="2377440" cy="25603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Transporte, Refino</a:t>
            </a:r>
          </a:p>
        </p:txBody>
      </p:sp>
      <p:pic>
        <p:nvPicPr>
          <p:cNvPr id="31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5001768" y="2624328"/>
            <a:ext cx="64008" cy="457200"/>
          </a:xfrm>
          <a:prstGeom prst="rect">
            <a:avLst/>
          </a:prstGeom>
        </p:spPr>
      </p:pic>
      <p:sp>
        <p:nvSpPr>
          <p:cNvPr id="32" name=""/>
          <p:cNvSpPr>
            <a:spLocks noGrp="1"/>
          </p:cNvSpPr>
          <p:nvPr>
            <p:ph/>
          </p:nvPr>
        </p:nvSpPr>
        <p:spPr>
          <a:xfrm>
            <a:off x="5166360" y="2624328"/>
            <a:ext cx="237744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Gás Natural</a:t>
            </a:r>
          </a:p>
        </p:txBody>
      </p:sp>
      <p:sp>
        <p:nvSpPr>
          <p:cNvPr id="33" name=""/>
          <p:cNvSpPr>
            <a:spLocks noGrp="1"/>
          </p:cNvSpPr>
          <p:nvPr>
            <p:ph/>
          </p:nvPr>
        </p:nvSpPr>
        <p:spPr>
          <a:xfrm>
            <a:off x="5166360" y="2898648"/>
            <a:ext cx="2377440" cy="25603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Indústria pesada, edificações</a:t>
            </a:r>
          </a:p>
        </p:txBody>
      </p:sp>
      <p:pic>
        <p:nvPicPr>
          <p:cNvPr id="3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5001768" y="3328416"/>
            <a:ext cx="64008" cy="457200"/>
          </a:xfrm>
          <a:prstGeom prst="rect">
            <a:avLst/>
          </a:prstGeom>
        </p:spPr>
      </p:pic>
      <p:sp>
        <p:nvSpPr>
          <p:cNvPr id="35" name=""/>
          <p:cNvSpPr>
            <a:spLocks noGrp="1"/>
          </p:cNvSpPr>
          <p:nvPr>
            <p:ph/>
          </p:nvPr>
        </p:nvSpPr>
        <p:spPr>
          <a:xfrm>
            <a:off x="5166360" y="3328416"/>
            <a:ext cx="237744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Biodiesel / HVO</a:t>
            </a:r>
          </a:p>
        </p:txBody>
      </p:sp>
      <p:sp>
        <p:nvSpPr>
          <p:cNvPr id="36" name=""/>
          <p:cNvSpPr>
            <a:spLocks noGrp="1"/>
          </p:cNvSpPr>
          <p:nvPr>
            <p:ph/>
          </p:nvPr>
        </p:nvSpPr>
        <p:spPr>
          <a:xfrm>
            <a:off x="5166360" y="3602736"/>
            <a:ext cx="2377440" cy="25603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Transporte rodoviário pesado</a:t>
            </a:r>
          </a:p>
        </p:txBody>
      </p:sp>
      <p:pic>
        <p:nvPicPr>
          <p:cNvPr id="37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5001768" y="4032504"/>
            <a:ext cx="64008" cy="457200"/>
          </a:xfrm>
          <a:prstGeom prst="rect">
            <a:avLst/>
          </a:prstGeom>
        </p:spPr>
      </p:pic>
      <p:sp>
        <p:nvSpPr>
          <p:cNvPr id="38" name=""/>
          <p:cNvSpPr>
            <a:spLocks noGrp="1"/>
          </p:cNvSpPr>
          <p:nvPr>
            <p:ph/>
          </p:nvPr>
        </p:nvSpPr>
        <p:spPr>
          <a:xfrm>
            <a:off x="5166360" y="4032504"/>
            <a:ext cx="237744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Etanol / Biocombustíveis</a:t>
            </a:r>
          </a:p>
        </p:txBody>
      </p:sp>
      <p:sp>
        <p:nvSpPr>
          <p:cNvPr id="39" name=""/>
          <p:cNvSpPr>
            <a:spLocks noGrp="1"/>
          </p:cNvSpPr>
          <p:nvPr>
            <p:ph/>
          </p:nvPr>
        </p:nvSpPr>
        <p:spPr>
          <a:xfrm>
            <a:off x="5166360" y="4306824"/>
            <a:ext cx="2377440" cy="25603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Flex, aviação, naval</a:t>
            </a:r>
          </a:p>
        </p:txBody>
      </p:sp>
      <p:pic>
        <p:nvPicPr>
          <p:cNvPr id="40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5001768" y="4736592"/>
            <a:ext cx="64008" cy="457200"/>
          </a:xfrm>
          <a:prstGeom prst="rect">
            <a:avLst/>
          </a:prstGeom>
        </p:spPr>
      </p:pic>
      <p:sp>
        <p:nvSpPr>
          <p:cNvPr id="41" name=""/>
          <p:cNvSpPr>
            <a:spLocks noGrp="1"/>
          </p:cNvSpPr>
          <p:nvPr>
            <p:ph/>
          </p:nvPr>
        </p:nvSpPr>
        <p:spPr>
          <a:xfrm>
            <a:off x="5166360" y="4736592"/>
            <a:ext cx="237744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EE Centralizada (S40)</a:t>
            </a:r>
          </a:p>
        </p:txBody>
      </p:sp>
      <p:sp>
        <p:nvSpPr>
          <p:cNvPr id="42" name=""/>
          <p:cNvSpPr>
            <a:spLocks noGrp="1"/>
          </p:cNvSpPr>
          <p:nvPr>
            <p:ph/>
          </p:nvPr>
        </p:nvSpPr>
        <p:spPr>
          <a:xfrm>
            <a:off x="5166360" y="5010912"/>
            <a:ext cx="2377440" cy="25603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Geração e distribuidoras</a:t>
            </a:r>
          </a:p>
        </p:txBody>
      </p:sp>
      <p:pic>
        <p:nvPicPr>
          <p:cNvPr id="43" name="" descr=""/>
          <p:cNvPicPr>
            <a:picLocks noGrp="1"/>
          </p:cNvPicPr>
          <p:nvPr>
            <p:ph/>
          </p:nvPr>
        </p:nvPicPr>
        <p:blipFill>
          <a:blip r:embed="rId9"/>
          <a:stretch>
            <a:fillRect/>
          </a:stretch>
        </p:blipFill>
        <p:spPr>
          <a:xfrm>
            <a:off x="5001768" y="5440680"/>
            <a:ext cx="64008" cy="457200"/>
          </a:xfrm>
          <a:prstGeom prst="rect">
            <a:avLst/>
          </a:prstGeom>
        </p:spPr>
      </p:pic>
      <p:sp>
        <p:nvSpPr>
          <p:cNvPr id="44" name=""/>
          <p:cNvSpPr>
            <a:spLocks noGrp="1"/>
          </p:cNvSpPr>
          <p:nvPr>
            <p:ph/>
          </p:nvPr>
        </p:nvSpPr>
        <p:spPr>
          <a:xfrm>
            <a:off x="5166360" y="5440680"/>
            <a:ext cx="237744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EE Distribuída (S41)</a:t>
            </a:r>
          </a:p>
        </p:txBody>
      </p:sp>
      <p:sp>
        <p:nvSpPr>
          <p:cNvPr id="45" name=""/>
          <p:cNvSpPr>
            <a:spLocks noGrp="1"/>
          </p:cNvSpPr>
          <p:nvPr>
            <p:ph/>
          </p:nvPr>
        </p:nvSpPr>
        <p:spPr>
          <a:xfrm>
            <a:off x="5166360" y="5715000"/>
            <a:ext cx="2377440" cy="25603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Solar FV, micro-hidro</a:t>
            </a:r>
          </a:p>
        </p:txBody>
      </p:sp>
      <p:sp>
        <p:nvSpPr>
          <p:cNvPr id="46" name=""/>
          <p:cNvSpPr>
            <a:spLocks noGrp="1"/>
          </p:cNvSpPr>
          <p:nvPr>
            <p:ph/>
          </p:nvPr>
        </p:nvSpPr>
        <p:spPr>
          <a:xfrm>
            <a:off x="4983480" y="6126480"/>
            <a:ext cx="374904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Uso: ALPHA × Δx = variação no consumo de energia por fonte (ktep)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82296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365760" y="9144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Engine 1  —  Demanda Final (Δf)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182880" y="1005840"/>
            <a:ext cx="4160520" cy="530352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365760" y="1097280"/>
            <a:ext cx="384048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1a  •  Escala do PIB</a:t>
            </a:r>
          </a:p>
        </p:txBody>
      </p:sp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365760" y="1645920"/>
            <a:ext cx="3840480" cy="438912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Fonte: Planilha PIB_Pop do MMA (índice por ano)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Δf_PIB = f_base × (gdp_idx × 0,97 − 1)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Escala todos os componentes da demanda final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CAGR implícito: ~2,4% a.a. (2018–2050)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Setores Engine 3 recebem Δf=0 (evita dupla contagem)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E3: S05 petróleo, S19 refino, S40 geração, S42 transmissão</a:t>
            </a:r>
          </a:p>
        </p:txBody>
      </p:sp>
      <p:pic>
        <p:nvPicPr>
          <p:cNvPr id="8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4617720" y="1005840"/>
            <a:ext cx="4343400" cy="530352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4800600" y="1097280"/>
            <a:ext cx="402336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1b  •  Investimento de Transição (FBCF)</a:t>
            </a:r>
          </a:p>
        </p:txBody>
      </p:sp>
      <p:sp>
        <p:nvSpPr>
          <p:cNvPr id="10" name=""/>
          <p:cNvSpPr>
            <a:spLocks noGrp="1"/>
          </p:cNvSpPr>
          <p:nvPr>
            <p:ph/>
          </p:nvPr>
        </p:nvSpPr>
        <p:spPr>
          <a:xfrm>
            <a:off x="4800600" y="1645920"/>
            <a:ext cx="4023360" cy="438912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Fonte: Aba Custos MMA — Custo Anual Equivalente (CAE)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Conversão: bi USD2023 → R$2018 (fator 2,92)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100D: ~R$762 bi/ano em investimentos de transição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Adicionado como FBCF setorial (formação bruta de capital fixo)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ALOC_INV: pesos por setor IO — premissa a calibrar com dados MMA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Maiores receptores: geração, construção, biocomb., veículos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82296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365760" y="9144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Engine 2  —  Substituição Energética (ΔA)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457200" y="914400"/>
            <a:ext cx="8229600" cy="41148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378AD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sc_combustível = share_cenário(t) / share_base(2020)</a:t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457200" y="1325880"/>
            <a:ext cx="8229600" cy="36576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A*(j,t) = A(j) × sc    →    L*(t) = (I − A*)⁻¹    →    Δx = L* × Δf</a:t>
            </a:r>
          </a:p>
        </p:txBody>
      </p:sp>
      <p:pic>
        <p:nvPicPr>
          <p:cNvPr id="7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137160" y="1874520"/>
            <a:ext cx="2148840" cy="205740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8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228600" y="1938528"/>
            <a:ext cx="1965960" cy="54864"/>
          </a:xfrm>
          <a:prstGeom prst="rect">
            <a:avLst/>
          </a:prstGeom>
        </p:spPr>
      </p:pic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246888" y="2039112"/>
            <a:ext cx="196596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Ferro e Aço (S29)</a:t>
            </a:r>
          </a:p>
        </p:txBody>
      </p:sp>
      <p:sp>
        <p:nvSpPr>
          <p:cNvPr id="10" name=""/>
          <p:cNvSpPr>
            <a:spLocks noGrp="1"/>
          </p:cNvSpPr>
          <p:nvPr>
            <p:ph/>
          </p:nvPr>
        </p:nvSpPr>
        <p:spPr>
          <a:xfrm>
            <a:off x="246888" y="2532888"/>
            <a:ext cx="1965960" cy="5943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Foss+H₂ → eletricidade</a:t>
            </a:r>
          </a:p>
        </p:txBody>
      </p:sp>
      <p:sp>
        <p:nvSpPr>
          <p:cNvPr id="11" name=""/>
          <p:cNvSpPr>
            <a:spLocks noGrp="1"/>
          </p:cNvSpPr>
          <p:nvPr>
            <p:ph/>
          </p:nvPr>
        </p:nvSpPr>
        <p:spPr>
          <a:xfrm>
            <a:off x="246888" y="3200400"/>
            <a:ext cx="19659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Foss 61,9% | Bio 29% | Elec 9,1%</a:t>
            </a:r>
          </a:p>
        </p:txBody>
      </p:sp>
      <p:pic>
        <p:nvPicPr>
          <p:cNvPr id="12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2395728" y="1874520"/>
            <a:ext cx="2148840" cy="205740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13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2487168" y="1938528"/>
            <a:ext cx="1965960" cy="54864"/>
          </a:xfrm>
          <a:prstGeom prst="rect">
            <a:avLst/>
          </a:prstGeom>
        </p:spPr>
      </p:pic>
      <p:sp>
        <p:nvSpPr>
          <p:cNvPr id="14" name=""/>
          <p:cNvSpPr>
            <a:spLocks noGrp="1"/>
          </p:cNvSpPr>
          <p:nvPr>
            <p:ph/>
          </p:nvPr>
        </p:nvSpPr>
        <p:spPr>
          <a:xfrm>
            <a:off x="2505456" y="2039112"/>
            <a:ext cx="196596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Cimento (S28)</a:t>
            </a:r>
          </a:p>
        </p:txBody>
      </p:sp>
      <p:sp>
        <p:nvSpPr>
          <p:cNvPr id="15" name=""/>
          <p:cNvSpPr>
            <a:spLocks noGrp="1"/>
          </p:cNvSpPr>
          <p:nvPr>
            <p:ph/>
          </p:nvPr>
        </p:nvSpPr>
        <p:spPr>
          <a:xfrm>
            <a:off x="2505456" y="2532888"/>
            <a:ext cx="1965960" cy="5943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Coque → biomassa + clínquer</a:t>
            </a:r>
          </a:p>
        </p:txBody>
      </p:sp>
      <p:sp>
        <p:nvSpPr>
          <p:cNvPr id="16" name=""/>
          <p:cNvSpPr>
            <a:spLocks noGrp="1"/>
          </p:cNvSpPr>
          <p:nvPr>
            <p:ph/>
          </p:nvPr>
        </p:nvSpPr>
        <p:spPr>
          <a:xfrm>
            <a:off x="2505456" y="3200400"/>
            <a:ext cx="19659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Foss 67,4% | Bio 18,3% | Elec 14,4%</a:t>
            </a:r>
          </a:p>
        </p:txBody>
      </p:sp>
      <p:pic>
        <p:nvPicPr>
          <p:cNvPr id="17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4654296" y="1874520"/>
            <a:ext cx="2148840" cy="205740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18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4745736" y="1938528"/>
            <a:ext cx="1965960" cy="54864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p:ph/>
          </p:nvPr>
        </p:nvSpPr>
        <p:spPr>
          <a:xfrm>
            <a:off x="4764024" y="2039112"/>
            <a:ext cx="196596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Químico (S24-26)</a:t>
            </a:r>
          </a:p>
        </p:txBody>
      </p:sp>
      <p:sp>
        <p:nvSpPr>
          <p:cNvPr id="20" name=""/>
          <p:cNvSpPr>
            <a:spLocks noGrp="1"/>
          </p:cNvSpPr>
          <p:nvPr>
            <p:ph/>
          </p:nvPr>
        </p:nvSpPr>
        <p:spPr>
          <a:xfrm>
            <a:off x="4764024" y="2532888"/>
            <a:ext cx="1965960" cy="5943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Nafta → bioquímicos</a:t>
            </a:r>
          </a:p>
        </p:txBody>
      </p:sp>
      <p:sp>
        <p:nvSpPr>
          <p:cNvPr id="21" name=""/>
          <p:cNvSpPr>
            <a:spLocks noGrp="1"/>
          </p:cNvSpPr>
          <p:nvPr>
            <p:ph/>
          </p:nvPr>
        </p:nvSpPr>
        <p:spPr>
          <a:xfrm>
            <a:off x="4764024" y="3200400"/>
            <a:ext cx="19659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Foss 66,6% | Bio 2,3% | Elec 31,2%</a:t>
            </a:r>
          </a:p>
        </p:txBody>
      </p:sp>
      <p:pic>
        <p:nvPicPr>
          <p:cNvPr id="22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912864" y="1874520"/>
            <a:ext cx="2148840" cy="205740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23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7004304" y="1938528"/>
            <a:ext cx="1965960" cy="54864"/>
          </a:xfrm>
          <a:prstGeom prst="rect">
            <a:avLst/>
          </a:prstGeom>
        </p:spPr>
      </p:pic>
      <p:sp>
        <p:nvSpPr>
          <p:cNvPr id="24" name=""/>
          <p:cNvSpPr>
            <a:spLocks noGrp="1"/>
          </p:cNvSpPr>
          <p:nvPr>
            <p:ph/>
          </p:nvPr>
        </p:nvSpPr>
        <p:spPr>
          <a:xfrm>
            <a:off x="7022592" y="2039112"/>
            <a:ext cx="196596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Outros Indústria</a:t>
            </a:r>
          </a:p>
        </p:txBody>
      </p:sp>
      <p:sp>
        <p:nvSpPr>
          <p:cNvPr id="25" name=""/>
          <p:cNvSpPr>
            <a:spLocks noGrp="1"/>
          </p:cNvSpPr>
          <p:nvPr>
            <p:ph/>
          </p:nvPr>
        </p:nvSpPr>
        <p:spPr>
          <a:xfrm>
            <a:off x="7022592" y="2532888"/>
            <a:ext cx="1965960" cy="5943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25 setores manufatureiros</a:t>
            </a:r>
          </a:p>
        </p:txBody>
      </p:sp>
      <p:sp>
        <p:nvSpPr>
          <p:cNvPr id="26" name=""/>
          <p:cNvSpPr>
            <a:spLocks noGrp="1"/>
          </p:cNvSpPr>
          <p:nvPr>
            <p:ph/>
          </p:nvPr>
        </p:nvSpPr>
        <p:spPr>
          <a:xfrm>
            <a:off x="7022592" y="3200400"/>
            <a:ext cx="19659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Mix diverso BLUES-style</a:t>
            </a:r>
          </a:p>
        </p:txBody>
      </p:sp>
      <p:pic>
        <p:nvPicPr>
          <p:cNvPr id="27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137160" y="4160520"/>
            <a:ext cx="2148840" cy="205740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28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228600" y="4224528"/>
            <a:ext cx="1965960" cy="54864"/>
          </a:xfrm>
          <a:prstGeom prst="rect">
            <a:avLst/>
          </a:prstGeom>
        </p:spPr>
      </p:pic>
      <p:sp>
        <p:nvSpPr>
          <p:cNvPr id="29" name=""/>
          <p:cNvSpPr>
            <a:spLocks noGrp="1"/>
          </p:cNvSpPr>
          <p:nvPr>
            <p:ph/>
          </p:nvPr>
        </p:nvSpPr>
        <p:spPr>
          <a:xfrm>
            <a:off x="246888" y="4325112"/>
            <a:ext cx="196596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Transporte (S48-52)</a:t>
            </a:r>
          </a:p>
        </p:txBody>
      </p:sp>
      <p:sp>
        <p:nvSpPr>
          <p:cNvPr id="30" name=""/>
          <p:cNvSpPr>
            <a:spLocks noGrp="1"/>
          </p:cNvSpPr>
          <p:nvPr>
            <p:ph/>
          </p:nvPr>
        </p:nvSpPr>
        <p:spPr>
          <a:xfrm>
            <a:off x="246888" y="4818888"/>
            <a:ext cx="1965960" cy="5943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Eletrificação + biocombustíveis</a:t>
            </a:r>
          </a:p>
        </p:txBody>
      </p:sp>
      <p:sp>
        <p:nvSpPr>
          <p:cNvPr id="31" name=""/>
          <p:cNvSpPr>
            <a:spLocks noGrp="1"/>
          </p:cNvSpPr>
          <p:nvPr>
            <p:ph/>
          </p:nvPr>
        </p:nvSpPr>
        <p:spPr>
          <a:xfrm>
            <a:off x="246888" y="5486400"/>
            <a:ext cx="19659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Elec 0,4%→17% | Bio 30,3%→?</a:t>
            </a:r>
          </a:p>
        </p:txBody>
      </p:sp>
      <p:pic>
        <p:nvPicPr>
          <p:cNvPr id="32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2395728" y="4160520"/>
            <a:ext cx="2148840" cy="205740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33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2487168" y="4224528"/>
            <a:ext cx="1965960" cy="54864"/>
          </a:xfrm>
          <a:prstGeom prst="rect">
            <a:avLst/>
          </a:prstGeom>
        </p:spPr>
      </p:pic>
      <p:sp>
        <p:nvSpPr>
          <p:cNvPr id="34" name=""/>
          <p:cNvSpPr>
            <a:spLocks noGrp="1"/>
          </p:cNvSpPr>
          <p:nvPr>
            <p:ph/>
          </p:nvPr>
        </p:nvSpPr>
        <p:spPr>
          <a:xfrm>
            <a:off x="2505456" y="4325112"/>
            <a:ext cx="196596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Cidades/Edifícios</a:t>
            </a:r>
          </a:p>
        </p:txBody>
      </p:sp>
      <p:sp>
        <p:nvSpPr>
          <p:cNvPr id="35" name=""/>
          <p:cNvSpPr>
            <a:spLocks noGrp="1"/>
          </p:cNvSpPr>
          <p:nvPr>
            <p:ph/>
          </p:nvPr>
        </p:nvSpPr>
        <p:spPr>
          <a:xfrm>
            <a:off x="2505456" y="4818888"/>
            <a:ext cx="1965960" cy="5943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S52/53/59/S66-70</a:t>
            </a:r>
          </a:p>
        </p:txBody>
      </p:sp>
      <p:sp>
        <p:nvSpPr>
          <p:cNvPr id="36" name=""/>
          <p:cNvSpPr>
            <a:spLocks noGrp="1"/>
          </p:cNvSpPr>
          <p:nvPr>
            <p:ph/>
          </p:nvPr>
        </p:nvSpPr>
        <p:spPr>
          <a:xfrm>
            <a:off x="2505456" y="5486400"/>
            <a:ext cx="19659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Elec 62,5%→95% | Gás 26%→5%</a:t>
            </a:r>
          </a:p>
        </p:txBody>
      </p:sp>
      <p:pic>
        <p:nvPicPr>
          <p:cNvPr id="37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4654296" y="4160520"/>
            <a:ext cx="2148840" cy="205740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38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4745736" y="4224528"/>
            <a:ext cx="1965960" cy="54864"/>
          </a:xfrm>
          <a:prstGeom prst="rect">
            <a:avLst/>
          </a:prstGeom>
        </p:spPr>
      </p:pic>
      <p:sp>
        <p:nvSpPr>
          <p:cNvPr id="39" name=""/>
          <p:cNvSpPr>
            <a:spLocks noGrp="1"/>
          </p:cNvSpPr>
          <p:nvPr>
            <p:ph/>
          </p:nvPr>
        </p:nvSpPr>
        <p:spPr>
          <a:xfrm>
            <a:off x="4764024" y="4325112"/>
            <a:ext cx="196596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Geração Elétrica (S40)</a:t>
            </a:r>
          </a:p>
        </p:txBody>
      </p:sp>
      <p:sp>
        <p:nvSpPr>
          <p:cNvPr id="40" name=""/>
          <p:cNvSpPr>
            <a:spLocks noGrp="1"/>
          </p:cNvSpPr>
          <p:nvPr>
            <p:ph/>
          </p:nvPr>
        </p:nvSpPr>
        <p:spPr>
          <a:xfrm>
            <a:off x="4764024" y="4818888"/>
            <a:ext cx="1965960" cy="5943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Fóssil 14,6%→0,7% (2050)</a:t>
            </a:r>
          </a:p>
        </p:txBody>
      </p:sp>
      <p:sp>
        <p:nvSpPr>
          <p:cNvPr id="41" name=""/>
          <p:cNvSpPr>
            <a:spLocks noGrp="1"/>
          </p:cNvSpPr>
          <p:nvPr>
            <p:ph/>
          </p:nvPr>
        </p:nvSpPr>
        <p:spPr>
          <a:xfrm>
            <a:off x="4764024" y="5486400"/>
            <a:ext cx="19659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normalize=FALSE: redução genuína</a:t>
            </a:r>
          </a:p>
        </p:txBody>
      </p:sp>
      <p:pic>
        <p:nvPicPr>
          <p:cNvPr id="42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912864" y="4160520"/>
            <a:ext cx="2148840" cy="205740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43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7004304" y="4224528"/>
            <a:ext cx="1965960" cy="54864"/>
          </a:xfrm>
          <a:prstGeom prst="rect">
            <a:avLst/>
          </a:prstGeom>
        </p:spPr>
      </p:pic>
      <p:sp>
        <p:nvSpPr>
          <p:cNvPr id="44" name=""/>
          <p:cNvSpPr>
            <a:spLocks noGrp="1"/>
          </p:cNvSpPr>
          <p:nvPr>
            <p:ph/>
          </p:nvPr>
        </p:nvSpPr>
        <p:spPr>
          <a:xfrm>
            <a:off x="7022592" y="4325112"/>
            <a:ext cx="196596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Refino/Gás (S19/43)</a:t>
            </a:r>
          </a:p>
        </p:txBody>
      </p:sp>
      <p:sp>
        <p:nvSpPr>
          <p:cNvPr id="45" name=""/>
          <p:cNvSpPr>
            <a:spLocks noGrp="1"/>
          </p:cNvSpPr>
          <p:nvPr>
            <p:ph/>
          </p:nvPr>
        </p:nvSpPr>
        <p:spPr>
          <a:xfrm>
            <a:off x="7022592" y="4818888"/>
            <a:ext cx="1965960" cy="5943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Coprocessamento + biometano</a:t>
            </a:r>
          </a:p>
        </p:txBody>
      </p:sp>
      <p:sp>
        <p:nvSpPr>
          <p:cNvPr id="46" name=""/>
          <p:cNvSpPr>
            <a:spLocks noGrp="1"/>
          </p:cNvSpPr>
          <p:nvPr>
            <p:ph/>
          </p:nvPr>
        </p:nvSpPr>
        <p:spPr>
          <a:xfrm>
            <a:off x="7022592" y="5486400"/>
            <a:ext cx="19659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S43: 0→~780 PJ biometano 2050</a:t>
            </a:r>
          </a:p>
        </p:txBody>
      </p:sp>
      <p:sp>
        <p:nvSpPr>
          <p:cNvPr id="47" name=""/>
          <p:cNvSpPr>
            <a:spLocks noGrp="1"/>
          </p:cNvSpPr>
          <p:nvPr>
            <p:ph/>
          </p:nvPr>
        </p:nvSpPr>
        <p:spPr>
          <a:xfrm>
            <a:off x="182880" y="6492240"/>
            <a:ext cx="8778240" cy="32004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normalize=TRUE preserva intensidade energética total (transporte, indústria)  |  normalize=FALSE permite redução genuína (geração elétrica −95% fóssil)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82296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365760" y="9144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Engine 3  —  Calibração por Volume Físico (Δx)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274320" y="914400"/>
            <a:ext cx="868680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Para setores energéticos-chave, a produção é ancorada em metas físicas do MMA — não apenas escala PIB.</a:t>
            </a:r>
          </a:p>
        </p:txBody>
      </p:sp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182880" y="1508760"/>
            <a:ext cx="2834640" cy="219456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320040" y="1618488"/>
            <a:ext cx="26517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S05 — Petróleo bruto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320040" y="2167128"/>
            <a:ext cx="2651760" cy="5943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MMA R37: produção kbep</a:t>
            </a:r>
          </a:p>
        </p:txBody>
      </p:sp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320040" y="2807208"/>
            <a:ext cx="265176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Pico 2030, declínio 58% até 2050</a:t>
            </a:r>
          </a:p>
        </p:txBody>
      </p:sp>
      <p:pic>
        <p:nvPicPr>
          <p:cNvPr id="10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3172968" y="1508760"/>
            <a:ext cx="2834640" cy="219456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11" name=""/>
          <p:cNvSpPr>
            <a:spLocks noGrp="1"/>
          </p:cNvSpPr>
          <p:nvPr>
            <p:ph/>
          </p:nvPr>
        </p:nvSpPr>
        <p:spPr>
          <a:xfrm>
            <a:off x="3310128" y="1618488"/>
            <a:ext cx="26517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S19 — Refino/Derivados</a:t>
            </a:r>
          </a:p>
        </p:txBody>
      </p:sp>
      <p:sp>
        <p:nvSpPr>
          <p:cNvPr id="12" name=""/>
          <p:cNvSpPr>
            <a:spLocks noGrp="1"/>
          </p:cNvSpPr>
          <p:nvPr>
            <p:ph/>
          </p:nvPr>
        </p:nvSpPr>
        <p:spPr>
          <a:xfrm>
            <a:off x="3310128" y="2167128"/>
            <a:ext cx="2651760" cy="5943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MMA R40+R41: derivados dom. + exp. (ktep)</a:t>
            </a:r>
          </a:p>
        </p:txBody>
      </p:sp>
      <p:sp>
        <p:nvSpPr>
          <p:cNvPr id="13" name=""/>
          <p:cNvSpPr>
            <a:spLocks noGrp="1"/>
          </p:cNvSpPr>
          <p:nvPr>
            <p:ph/>
          </p:nvPr>
        </p:nvSpPr>
        <p:spPr>
          <a:xfrm>
            <a:off x="3310128" y="2807208"/>
            <a:ext cx="265176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Permanece +6% com coprocessamento</a:t>
            </a:r>
          </a:p>
        </p:txBody>
      </p:sp>
      <p:pic>
        <p:nvPicPr>
          <p:cNvPr id="14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163056" y="1508760"/>
            <a:ext cx="2834640" cy="219456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15" name=""/>
          <p:cNvSpPr>
            <a:spLocks noGrp="1"/>
          </p:cNvSpPr>
          <p:nvPr>
            <p:ph/>
          </p:nvPr>
        </p:nvSpPr>
        <p:spPr>
          <a:xfrm>
            <a:off x="6300216" y="1618488"/>
            <a:ext cx="26517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S40/S42 — Geração/Transm.</a:t>
            </a:r>
          </a:p>
        </p:txBody>
      </p:sp>
      <p:sp>
        <p:nvSpPr>
          <p:cNvPr id="16" name=""/>
          <p:cNvSpPr>
            <a:spLocks noGrp="1"/>
          </p:cNvSpPr>
          <p:nvPr>
            <p:ph/>
          </p:nvPr>
        </p:nvSpPr>
        <p:spPr>
          <a:xfrm>
            <a:off x="6300216" y="2167128"/>
            <a:ext cx="2651760" cy="5943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MMA R49: geração total TWh (base 679 TWh)</a:t>
            </a:r>
          </a:p>
        </p:txBody>
      </p:sp>
      <p:sp>
        <p:nvSpPr>
          <p:cNvPr id="17" name=""/>
          <p:cNvSpPr>
            <a:spLocks noGrp="1"/>
          </p:cNvSpPr>
          <p:nvPr>
            <p:ph/>
          </p:nvPr>
        </p:nvSpPr>
        <p:spPr>
          <a:xfrm>
            <a:off x="6300216" y="2807208"/>
            <a:ext cx="265176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Transmissão proporcional à geração</a:t>
            </a:r>
          </a:p>
        </p:txBody>
      </p:sp>
      <p:pic>
        <p:nvPicPr>
          <p:cNvPr id="18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182880" y="3886200"/>
            <a:ext cx="2834640" cy="219456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19" name=""/>
          <p:cNvSpPr>
            <a:spLocks noGrp="1"/>
          </p:cNvSpPr>
          <p:nvPr>
            <p:ph/>
          </p:nvPr>
        </p:nvSpPr>
        <p:spPr>
          <a:xfrm>
            <a:off x="320040" y="3995928"/>
            <a:ext cx="26517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S22 — Biocomb. Avançados</a:t>
            </a:r>
          </a:p>
        </p:txBody>
      </p:sp>
      <p:sp>
        <p:nvSpPr>
          <p:cNvPr id="20" name=""/>
          <p:cNvSpPr>
            <a:spLocks noGrp="1"/>
          </p:cNvSpPr>
          <p:nvPr>
            <p:ph/>
          </p:nvPr>
        </p:nvSpPr>
        <p:spPr>
          <a:xfrm>
            <a:off x="320040" y="4544568"/>
            <a:ext cx="2651760" cy="5943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Etanol+CCS + Gasolina Verde + BioQAV + Bunker</a:t>
            </a:r>
          </a:p>
        </p:txBody>
      </p:sp>
      <p:sp>
        <p:nvSpPr>
          <p:cNvPr id="21" name=""/>
          <p:cNvSpPr>
            <a:spLocks noGrp="1"/>
          </p:cNvSpPr>
          <p:nvPr>
            <p:ph/>
          </p:nvPr>
        </p:nvSpPr>
        <p:spPr>
          <a:xfrm>
            <a:off x="320040" y="5184648"/>
            <a:ext cx="265176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Base 1020 PJ + incremento cenário</a:t>
            </a:r>
          </a:p>
        </p:txBody>
      </p:sp>
      <p:pic>
        <p:nvPicPr>
          <p:cNvPr id="22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3172968" y="3886200"/>
            <a:ext cx="2834640" cy="219456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23" name=""/>
          <p:cNvSpPr>
            <a:spLocks noGrp="1"/>
          </p:cNvSpPr>
          <p:nvPr>
            <p:ph/>
          </p:nvPr>
        </p:nvSpPr>
        <p:spPr>
          <a:xfrm>
            <a:off x="3310128" y="3995928"/>
            <a:ext cx="26517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S20 — Biodiesel / HVO</a:t>
            </a:r>
          </a:p>
        </p:txBody>
      </p:sp>
      <p:sp>
        <p:nvSpPr>
          <p:cNvPr id="24" name=""/>
          <p:cNvSpPr>
            <a:spLocks noGrp="1"/>
          </p:cNvSpPr>
          <p:nvPr>
            <p:ph/>
          </p:nvPr>
        </p:nvSpPr>
        <p:spPr>
          <a:xfrm>
            <a:off x="3310128" y="4544568"/>
            <a:ext cx="2651760" cy="5943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MMA R78: Diesel Verde PJ + base 230 PJ</a:t>
            </a:r>
          </a:p>
        </p:txBody>
      </p:sp>
      <p:sp>
        <p:nvSpPr>
          <p:cNvPr id="25" name=""/>
          <p:cNvSpPr>
            <a:spLocks noGrp="1"/>
          </p:cNvSpPr>
          <p:nvPr>
            <p:ph/>
          </p:nvPr>
        </p:nvSpPr>
        <p:spPr>
          <a:xfrm>
            <a:off x="3310128" y="5184648"/>
            <a:ext cx="265176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Substitui diesel mineral em frotas</a:t>
            </a:r>
          </a:p>
        </p:txBody>
      </p:sp>
      <p:pic>
        <p:nvPicPr>
          <p:cNvPr id="26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163056" y="3886200"/>
            <a:ext cx="2834640" cy="219456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27" name=""/>
          <p:cNvSpPr>
            <a:spLocks noGrp="1"/>
          </p:cNvSpPr>
          <p:nvPr>
            <p:ph/>
          </p:nvPr>
        </p:nvSpPr>
        <p:spPr>
          <a:xfrm>
            <a:off x="6300216" y="3995928"/>
            <a:ext cx="26517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S29/S28 — Sid./Cimento</a:t>
            </a:r>
          </a:p>
        </p:txBody>
      </p:sp>
      <p:sp>
        <p:nvSpPr>
          <p:cNvPr id="28" name=""/>
          <p:cNvSpPr>
            <a:spLocks noGrp="1"/>
          </p:cNvSpPr>
          <p:nvPr>
            <p:ph/>
          </p:nvPr>
        </p:nvSpPr>
        <p:spPr>
          <a:xfrm>
            <a:off x="6300216" y="4544568"/>
            <a:ext cx="2651760" cy="5943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MMA R27 aço (Mt) + R41 clínquer (Mt)</a:t>
            </a:r>
          </a:p>
        </p:txBody>
      </p:sp>
      <p:sp>
        <p:nvSpPr>
          <p:cNvPr id="29" name=""/>
          <p:cNvSpPr>
            <a:spLocks noGrp="1"/>
          </p:cNvSpPr>
          <p:nvPr>
            <p:ph/>
          </p:nvPr>
        </p:nvSpPr>
        <p:spPr>
          <a:xfrm>
            <a:off x="6300216" y="5184648"/>
            <a:ext cx="265176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Razão vs 2020 × VBP setorial 2018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82296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365760" y="9144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Resultados — Prêmio da Transição 100D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274320" y="868680"/>
            <a:ext cx="859536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1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Prêmio = efeito líquido 100D vs. crescimento de base (PIB sem transição — apenas escala GDP)</a:t>
            </a:r>
          </a:p>
        </p:txBody>
      </p:sp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137160" y="1325880"/>
            <a:ext cx="1691640" cy="146304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182880" y="1389888"/>
            <a:ext cx="1600200" cy="50292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R$ 13.6 tri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182880" y="1911096"/>
            <a:ext cx="1600200" cy="32004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PIB — Nível 100D</a:t>
            </a:r>
          </a:p>
        </p:txBody>
      </p:sp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182880" y="2231136"/>
            <a:ext cx="1600200" cy="41148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Valor Adicionado 2050</a:t>
            </a:r>
          </a:p>
        </p:txBody>
      </p:sp>
      <p:pic>
        <p:nvPicPr>
          <p:cNvPr id="10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1938528" y="1325880"/>
            <a:ext cx="1691640" cy="146304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11" name=""/>
          <p:cNvSpPr>
            <a:spLocks noGrp="1"/>
          </p:cNvSpPr>
          <p:nvPr>
            <p:ph/>
          </p:nvPr>
        </p:nvSpPr>
        <p:spPr>
          <a:xfrm>
            <a:off x="1984248" y="1389888"/>
            <a:ext cx="1600200" cy="50292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+R$ 0.67 tri</a:t>
            </a:r>
          </a:p>
        </p:txBody>
      </p:sp>
      <p:sp>
        <p:nvSpPr>
          <p:cNvPr id="12" name=""/>
          <p:cNvSpPr>
            <a:spLocks noGrp="1"/>
          </p:cNvSpPr>
          <p:nvPr>
            <p:ph/>
          </p:nvPr>
        </p:nvSpPr>
        <p:spPr>
          <a:xfrm>
            <a:off x="1984248" y="1911096"/>
            <a:ext cx="1600200" cy="32004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Prêmio PIB 2050</a:t>
            </a:r>
          </a:p>
        </p:txBody>
      </p:sp>
      <p:sp>
        <p:nvSpPr>
          <p:cNvPr id="13" name=""/>
          <p:cNvSpPr>
            <a:spLocks noGrp="1"/>
          </p:cNvSpPr>
          <p:nvPr>
            <p:ph/>
          </p:nvPr>
        </p:nvSpPr>
        <p:spPr>
          <a:xfrm>
            <a:off x="1984248" y="2231136"/>
            <a:ext cx="1600200" cy="41148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100D vs. Linha de Base</a:t>
            </a:r>
          </a:p>
        </p:txBody>
      </p:sp>
      <p:pic>
        <p:nvPicPr>
          <p:cNvPr id="14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3739896" y="1325880"/>
            <a:ext cx="1691640" cy="146304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15" name=""/>
          <p:cNvSpPr>
            <a:spLocks noGrp="1"/>
          </p:cNvSpPr>
          <p:nvPr>
            <p:ph/>
          </p:nvPr>
        </p:nvSpPr>
        <p:spPr>
          <a:xfrm>
            <a:off x="3785616" y="1389888"/>
            <a:ext cx="1600200" cy="50292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378AD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235.5 mi</a:t>
            </a:r>
          </a:p>
        </p:txBody>
      </p:sp>
      <p:sp>
        <p:nvSpPr>
          <p:cNvPr id="16" name=""/>
          <p:cNvSpPr>
            <a:spLocks noGrp="1"/>
          </p:cNvSpPr>
          <p:nvPr>
            <p:ph/>
          </p:nvPr>
        </p:nvSpPr>
        <p:spPr>
          <a:xfrm>
            <a:off x="3785616" y="1911096"/>
            <a:ext cx="1600200" cy="32004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Empregos 100D</a:t>
            </a:r>
          </a:p>
        </p:txBody>
      </p:sp>
      <p:sp>
        <p:nvSpPr>
          <p:cNvPr id="17" name=""/>
          <p:cNvSpPr>
            <a:spLocks noGrp="1"/>
          </p:cNvSpPr>
          <p:nvPr>
            <p:ph/>
          </p:nvPr>
        </p:nvSpPr>
        <p:spPr>
          <a:xfrm>
            <a:off x="3785616" y="2231136"/>
            <a:ext cx="1600200" cy="41148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Postos de trabalho 2050</a:t>
            </a:r>
          </a:p>
        </p:txBody>
      </p:sp>
      <p:pic>
        <p:nvPicPr>
          <p:cNvPr id="18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5541264" y="1325880"/>
            <a:ext cx="1691640" cy="146304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19" name=""/>
          <p:cNvSpPr>
            <a:spLocks noGrp="1"/>
          </p:cNvSpPr>
          <p:nvPr>
            <p:ph/>
          </p:nvPr>
        </p:nvSpPr>
        <p:spPr>
          <a:xfrm>
            <a:off x="5586984" y="1389888"/>
            <a:ext cx="1600200" cy="50292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+8.87 mi</a:t>
            </a:r>
          </a:p>
        </p:txBody>
      </p:sp>
      <p:sp>
        <p:nvSpPr>
          <p:cNvPr id="20" name=""/>
          <p:cNvSpPr>
            <a:spLocks noGrp="1"/>
          </p:cNvSpPr>
          <p:nvPr>
            <p:ph/>
          </p:nvPr>
        </p:nvSpPr>
        <p:spPr>
          <a:xfrm>
            <a:off x="5586984" y="1911096"/>
            <a:ext cx="1600200" cy="32004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Prêmio Emprego 2050</a:t>
            </a:r>
          </a:p>
        </p:txBody>
      </p:sp>
      <p:sp>
        <p:nvSpPr>
          <p:cNvPr id="21" name=""/>
          <p:cNvSpPr>
            <a:spLocks noGrp="1"/>
          </p:cNvSpPr>
          <p:nvPr>
            <p:ph/>
          </p:nvPr>
        </p:nvSpPr>
        <p:spPr>
          <a:xfrm>
            <a:off x="5586984" y="2231136"/>
            <a:ext cx="1600200" cy="41148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Empregos líquidos transição</a:t>
            </a:r>
          </a:p>
        </p:txBody>
      </p:sp>
      <p:pic>
        <p:nvPicPr>
          <p:cNvPr id="22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7342632" y="1325880"/>
            <a:ext cx="1691640" cy="146304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23" name=""/>
          <p:cNvSpPr>
            <a:spLocks noGrp="1"/>
          </p:cNvSpPr>
          <p:nvPr>
            <p:ph/>
          </p:nvPr>
        </p:nvSpPr>
        <p:spPr>
          <a:xfrm>
            <a:off x="7388352" y="1389888"/>
            <a:ext cx="1600200" cy="50292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F0A05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+9.09 mi</a:t>
            </a:r>
          </a:p>
        </p:txBody>
      </p:sp>
      <p:sp>
        <p:nvSpPr>
          <p:cNvPr id="24" name=""/>
          <p:cNvSpPr>
            <a:spLocks noGrp="1"/>
          </p:cNvSpPr>
          <p:nvPr>
            <p:ph/>
          </p:nvPr>
        </p:nvSpPr>
        <p:spPr>
          <a:xfrm>
            <a:off x="7388352" y="1911096"/>
            <a:ext cx="1600200" cy="32004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Prêmio Emprego 2030</a:t>
            </a:r>
          </a:p>
        </p:txBody>
      </p:sp>
      <p:sp>
        <p:nvSpPr>
          <p:cNvPr id="25" name=""/>
          <p:cNvSpPr>
            <a:spLocks noGrp="1"/>
          </p:cNvSpPr>
          <p:nvPr>
            <p:ph/>
          </p:nvPr>
        </p:nvSpPr>
        <p:spPr>
          <a:xfrm>
            <a:off x="7388352" y="2231136"/>
            <a:ext cx="1600200" cy="41148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Horizonte intermediário</a:t>
            </a:r>
          </a:p>
        </p:txBody>
      </p:sp>
      <p:sp>
        <p:nvSpPr>
          <p:cNvPr id="26" name=""/>
          <p:cNvSpPr>
            <a:spLocks noGrp="1"/>
          </p:cNvSpPr>
          <p:nvPr>
            <p:ph/>
          </p:nvPr>
        </p:nvSpPr>
        <p:spPr>
          <a:xfrm>
            <a:off x="274320" y="2971800"/>
            <a:ext cx="8595360" cy="384048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Trajetória por Cenário — Variação de Produção (ΔR$ bi vs. 2018)</a:t>
            </a:r>
          </a:p>
        </p:txBody>
      </p:sp>
      <p:pic>
        <p:nvPicPr>
          <p:cNvPr id="27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228600" y="3383280"/>
            <a:ext cx="1005840" cy="347472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28" name=""/>
          <p:cNvSpPr>
            <a:spLocks noGrp="1"/>
          </p:cNvSpPr>
          <p:nvPr>
            <p:ph/>
          </p:nvPr>
        </p:nvSpPr>
        <p:spPr>
          <a:xfrm>
            <a:off x="256032" y="3410712"/>
            <a:ext cx="950976" cy="292608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Cenário</a:t>
            </a:r>
          </a:p>
        </p:txBody>
      </p:sp>
      <p:pic>
        <p:nvPicPr>
          <p:cNvPr id="29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1234440" y="3383280"/>
            <a:ext cx="1353312" cy="347472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30" name=""/>
          <p:cNvSpPr>
            <a:spLocks noGrp="1"/>
          </p:cNvSpPr>
          <p:nvPr>
            <p:ph/>
          </p:nvPr>
        </p:nvSpPr>
        <p:spPr>
          <a:xfrm>
            <a:off x="1261872" y="3410712"/>
            <a:ext cx="1298448" cy="292608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2025</a:t>
            </a:r>
          </a:p>
        </p:txBody>
      </p:sp>
      <p:pic>
        <p:nvPicPr>
          <p:cNvPr id="31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2587752" y="3383280"/>
            <a:ext cx="1353312" cy="347472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32" name=""/>
          <p:cNvSpPr>
            <a:spLocks noGrp="1"/>
          </p:cNvSpPr>
          <p:nvPr>
            <p:ph/>
          </p:nvPr>
        </p:nvSpPr>
        <p:spPr>
          <a:xfrm>
            <a:off x="2615184" y="3410712"/>
            <a:ext cx="1298448" cy="292608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2030</a:t>
            </a:r>
          </a:p>
        </p:txBody>
      </p:sp>
      <p:pic>
        <p:nvPicPr>
          <p:cNvPr id="33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3941064" y="3383280"/>
            <a:ext cx="1353312" cy="347472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34" name=""/>
          <p:cNvSpPr>
            <a:spLocks noGrp="1"/>
          </p:cNvSpPr>
          <p:nvPr>
            <p:ph/>
          </p:nvPr>
        </p:nvSpPr>
        <p:spPr>
          <a:xfrm>
            <a:off x="3968496" y="3410712"/>
            <a:ext cx="1298448" cy="292608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2035</a:t>
            </a:r>
          </a:p>
        </p:txBody>
      </p:sp>
      <p:pic>
        <p:nvPicPr>
          <p:cNvPr id="35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5294376" y="3383280"/>
            <a:ext cx="1353312" cy="347472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36" name=""/>
          <p:cNvSpPr>
            <a:spLocks noGrp="1"/>
          </p:cNvSpPr>
          <p:nvPr>
            <p:ph/>
          </p:nvPr>
        </p:nvSpPr>
        <p:spPr>
          <a:xfrm>
            <a:off x="5321808" y="3410712"/>
            <a:ext cx="1298448" cy="292608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2040</a:t>
            </a:r>
          </a:p>
        </p:txBody>
      </p:sp>
      <p:pic>
        <p:nvPicPr>
          <p:cNvPr id="37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6647688" y="3383280"/>
            <a:ext cx="1353312" cy="347472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38" name=""/>
          <p:cNvSpPr>
            <a:spLocks noGrp="1"/>
          </p:cNvSpPr>
          <p:nvPr>
            <p:ph/>
          </p:nvPr>
        </p:nvSpPr>
        <p:spPr>
          <a:xfrm>
            <a:off x="6675120" y="3410712"/>
            <a:ext cx="1298448" cy="292608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2045</a:t>
            </a:r>
          </a:p>
        </p:txBody>
      </p:sp>
      <p:pic>
        <p:nvPicPr>
          <p:cNvPr id="39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8001000" y="3383280"/>
            <a:ext cx="1353312" cy="347472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40" name=""/>
          <p:cNvSpPr>
            <a:spLocks noGrp="1"/>
          </p:cNvSpPr>
          <p:nvPr>
            <p:ph/>
          </p:nvPr>
        </p:nvSpPr>
        <p:spPr>
          <a:xfrm>
            <a:off x="8028432" y="3410712"/>
            <a:ext cx="1298448" cy="292608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2050</a:t>
            </a:r>
          </a:p>
        </p:txBody>
      </p:sp>
      <p:pic>
        <p:nvPicPr>
          <p:cNvPr id="41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228600" y="3749040"/>
            <a:ext cx="1005840" cy="521208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42" name=""/>
          <p:cNvSpPr>
            <a:spLocks noGrp="1"/>
          </p:cNvSpPr>
          <p:nvPr>
            <p:ph/>
          </p:nvPr>
        </p:nvSpPr>
        <p:spPr>
          <a:xfrm>
            <a:off x="256032" y="3840480"/>
            <a:ext cx="950976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0D</a:t>
            </a:r>
          </a:p>
        </p:txBody>
      </p:sp>
      <p:pic>
        <p:nvPicPr>
          <p:cNvPr id="43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1234440" y="3749040"/>
            <a:ext cx="1353312" cy="521208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44" name=""/>
          <p:cNvSpPr>
            <a:spLocks noGrp="1"/>
          </p:cNvSpPr>
          <p:nvPr>
            <p:ph/>
          </p:nvPr>
        </p:nvSpPr>
        <p:spPr>
          <a:xfrm>
            <a:off x="1261872" y="3840480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3222</a:t>
            </a:r>
          </a:p>
        </p:txBody>
      </p:sp>
      <p:pic>
        <p:nvPicPr>
          <p:cNvPr id="45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2587752" y="3749040"/>
            <a:ext cx="1353312" cy="521208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46" name=""/>
          <p:cNvSpPr>
            <a:spLocks noGrp="1"/>
          </p:cNvSpPr>
          <p:nvPr>
            <p:ph/>
          </p:nvPr>
        </p:nvSpPr>
        <p:spPr>
          <a:xfrm>
            <a:off x="2615184" y="3840480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4414</a:t>
            </a:r>
          </a:p>
        </p:txBody>
      </p:sp>
      <p:pic>
        <p:nvPicPr>
          <p:cNvPr id="47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3941064" y="3749040"/>
            <a:ext cx="1353312" cy="521208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48" name=""/>
          <p:cNvSpPr>
            <a:spLocks noGrp="1"/>
          </p:cNvSpPr>
          <p:nvPr>
            <p:ph/>
          </p:nvPr>
        </p:nvSpPr>
        <p:spPr>
          <a:xfrm>
            <a:off x="3968496" y="3840480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6288</a:t>
            </a:r>
          </a:p>
        </p:txBody>
      </p:sp>
      <p:pic>
        <p:nvPicPr>
          <p:cNvPr id="49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5294376" y="3749040"/>
            <a:ext cx="1353312" cy="521208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50" name=""/>
          <p:cNvSpPr>
            <a:spLocks noGrp="1"/>
          </p:cNvSpPr>
          <p:nvPr>
            <p:ph/>
          </p:nvPr>
        </p:nvSpPr>
        <p:spPr>
          <a:xfrm>
            <a:off x="5321808" y="3840480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8696</a:t>
            </a:r>
          </a:p>
        </p:txBody>
      </p:sp>
      <p:pic>
        <p:nvPicPr>
          <p:cNvPr id="51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6647688" y="3749040"/>
            <a:ext cx="1353312" cy="521208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52" name=""/>
          <p:cNvSpPr>
            <a:spLocks noGrp="1"/>
          </p:cNvSpPr>
          <p:nvPr>
            <p:ph/>
          </p:nvPr>
        </p:nvSpPr>
        <p:spPr>
          <a:xfrm>
            <a:off x="6675120" y="3840480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11781</a:t>
            </a:r>
          </a:p>
        </p:txBody>
      </p:sp>
      <p:pic>
        <p:nvPicPr>
          <p:cNvPr id="53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8001000" y="3749040"/>
            <a:ext cx="1353312" cy="521208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54" name=""/>
          <p:cNvSpPr>
            <a:spLocks noGrp="1"/>
          </p:cNvSpPr>
          <p:nvPr>
            <p:ph/>
          </p:nvPr>
        </p:nvSpPr>
        <p:spPr>
          <a:xfrm>
            <a:off x="8028432" y="3840480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15291</a:t>
            </a:r>
          </a:p>
        </p:txBody>
      </p:sp>
      <p:pic>
        <p:nvPicPr>
          <p:cNvPr id="55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228600" y="4315968"/>
            <a:ext cx="1005840" cy="521208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56" name=""/>
          <p:cNvSpPr>
            <a:spLocks noGrp="1"/>
          </p:cNvSpPr>
          <p:nvPr>
            <p:ph/>
          </p:nvPr>
        </p:nvSpPr>
        <p:spPr>
          <a:xfrm>
            <a:off x="256032" y="4407408"/>
            <a:ext cx="950976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25D</a:t>
            </a:r>
          </a:p>
        </p:txBody>
      </p:sp>
      <p:pic>
        <p:nvPicPr>
          <p:cNvPr id="57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1234440" y="4315968"/>
            <a:ext cx="1353312" cy="521208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58" name=""/>
          <p:cNvSpPr>
            <a:spLocks noGrp="1"/>
          </p:cNvSpPr>
          <p:nvPr>
            <p:ph/>
          </p:nvPr>
        </p:nvSpPr>
        <p:spPr>
          <a:xfrm>
            <a:off x="1261872" y="4407408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3313</a:t>
            </a:r>
          </a:p>
        </p:txBody>
      </p:sp>
      <p:pic>
        <p:nvPicPr>
          <p:cNvPr id="59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2587752" y="4315968"/>
            <a:ext cx="1353312" cy="521208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60" name=""/>
          <p:cNvSpPr>
            <a:spLocks noGrp="1"/>
          </p:cNvSpPr>
          <p:nvPr>
            <p:ph/>
          </p:nvPr>
        </p:nvSpPr>
        <p:spPr>
          <a:xfrm>
            <a:off x="2615184" y="4407408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4490</a:t>
            </a:r>
          </a:p>
        </p:txBody>
      </p:sp>
      <p:pic>
        <p:nvPicPr>
          <p:cNvPr id="61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3941064" y="4315968"/>
            <a:ext cx="1353312" cy="521208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62" name=""/>
          <p:cNvSpPr>
            <a:spLocks noGrp="1"/>
          </p:cNvSpPr>
          <p:nvPr>
            <p:ph/>
          </p:nvPr>
        </p:nvSpPr>
        <p:spPr>
          <a:xfrm>
            <a:off x="3968496" y="4407408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6331</a:t>
            </a:r>
          </a:p>
        </p:txBody>
      </p:sp>
      <p:pic>
        <p:nvPicPr>
          <p:cNvPr id="63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5294376" y="4315968"/>
            <a:ext cx="1353312" cy="521208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64" name=""/>
          <p:cNvSpPr>
            <a:spLocks noGrp="1"/>
          </p:cNvSpPr>
          <p:nvPr>
            <p:ph/>
          </p:nvPr>
        </p:nvSpPr>
        <p:spPr>
          <a:xfrm>
            <a:off x="5321808" y="4407408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8686</a:t>
            </a:r>
          </a:p>
        </p:txBody>
      </p:sp>
      <p:pic>
        <p:nvPicPr>
          <p:cNvPr id="65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6647688" y="4315968"/>
            <a:ext cx="1353312" cy="521208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66" name=""/>
          <p:cNvSpPr>
            <a:spLocks noGrp="1"/>
          </p:cNvSpPr>
          <p:nvPr>
            <p:ph/>
          </p:nvPr>
        </p:nvSpPr>
        <p:spPr>
          <a:xfrm>
            <a:off x="6675120" y="4407408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11726</a:t>
            </a:r>
          </a:p>
        </p:txBody>
      </p:sp>
      <p:pic>
        <p:nvPicPr>
          <p:cNvPr id="67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8001000" y="4315968"/>
            <a:ext cx="1353312" cy="521208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68" name=""/>
          <p:cNvSpPr>
            <a:spLocks noGrp="1"/>
          </p:cNvSpPr>
          <p:nvPr>
            <p:ph/>
          </p:nvPr>
        </p:nvSpPr>
        <p:spPr>
          <a:xfrm>
            <a:off x="8028432" y="4407408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15207</a:t>
            </a:r>
          </a:p>
        </p:txBody>
      </p:sp>
      <p:pic>
        <p:nvPicPr>
          <p:cNvPr id="69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228600" y="4882896"/>
            <a:ext cx="1005840" cy="521208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70" name=""/>
          <p:cNvSpPr>
            <a:spLocks noGrp="1"/>
          </p:cNvSpPr>
          <p:nvPr>
            <p:ph/>
          </p:nvPr>
        </p:nvSpPr>
        <p:spPr>
          <a:xfrm>
            <a:off x="256032" y="4974336"/>
            <a:ext cx="950976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100D</a:t>
            </a:r>
          </a:p>
        </p:txBody>
      </p:sp>
      <p:pic>
        <p:nvPicPr>
          <p:cNvPr id="71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1234440" y="4882896"/>
            <a:ext cx="1353312" cy="521208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72" name=""/>
          <p:cNvSpPr>
            <a:spLocks noGrp="1"/>
          </p:cNvSpPr>
          <p:nvPr>
            <p:ph/>
          </p:nvPr>
        </p:nvSpPr>
        <p:spPr>
          <a:xfrm>
            <a:off x="1261872" y="4974336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3433</a:t>
            </a:r>
          </a:p>
        </p:txBody>
      </p:sp>
      <p:pic>
        <p:nvPicPr>
          <p:cNvPr id="73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2587752" y="4882896"/>
            <a:ext cx="1353312" cy="521208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74" name=""/>
          <p:cNvSpPr>
            <a:spLocks noGrp="1"/>
          </p:cNvSpPr>
          <p:nvPr>
            <p:ph/>
          </p:nvPr>
        </p:nvSpPr>
        <p:spPr>
          <a:xfrm>
            <a:off x="2615184" y="4974336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4650</a:t>
            </a:r>
          </a:p>
        </p:txBody>
      </p:sp>
      <p:pic>
        <p:nvPicPr>
          <p:cNvPr id="75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3941064" y="4882896"/>
            <a:ext cx="1353312" cy="521208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76" name=""/>
          <p:cNvSpPr>
            <a:spLocks noGrp="1"/>
          </p:cNvSpPr>
          <p:nvPr>
            <p:ph/>
          </p:nvPr>
        </p:nvSpPr>
        <p:spPr>
          <a:xfrm>
            <a:off x="3968496" y="4974336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6471</a:t>
            </a:r>
          </a:p>
        </p:txBody>
      </p:sp>
      <p:pic>
        <p:nvPicPr>
          <p:cNvPr id="77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5294376" y="4882896"/>
            <a:ext cx="1353312" cy="521208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78" name=""/>
          <p:cNvSpPr>
            <a:spLocks noGrp="1"/>
          </p:cNvSpPr>
          <p:nvPr>
            <p:ph/>
          </p:nvPr>
        </p:nvSpPr>
        <p:spPr>
          <a:xfrm>
            <a:off x="5321808" y="4974336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8704</a:t>
            </a:r>
          </a:p>
        </p:txBody>
      </p:sp>
      <p:pic>
        <p:nvPicPr>
          <p:cNvPr id="79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6647688" y="4882896"/>
            <a:ext cx="1353312" cy="521208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80" name=""/>
          <p:cNvSpPr>
            <a:spLocks noGrp="1"/>
          </p:cNvSpPr>
          <p:nvPr>
            <p:ph/>
          </p:nvPr>
        </p:nvSpPr>
        <p:spPr>
          <a:xfrm>
            <a:off x="6675120" y="4974336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11788</a:t>
            </a:r>
          </a:p>
        </p:txBody>
      </p:sp>
      <p:pic>
        <p:nvPicPr>
          <p:cNvPr id="81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8001000" y="4882896"/>
            <a:ext cx="1353312" cy="521208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82" name=""/>
          <p:cNvSpPr>
            <a:spLocks noGrp="1"/>
          </p:cNvSpPr>
          <p:nvPr>
            <p:ph/>
          </p:nvPr>
        </p:nvSpPr>
        <p:spPr>
          <a:xfrm>
            <a:off x="8028432" y="4974336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15228</a:t>
            </a:r>
          </a:p>
        </p:txBody>
      </p:sp>
      <p:sp>
        <p:nvSpPr>
          <p:cNvPr id="83" name=""/>
          <p:cNvSpPr>
            <a:spLocks noGrp="1"/>
          </p:cNvSpPr>
          <p:nvPr>
            <p:ph/>
          </p:nvPr>
        </p:nvSpPr>
        <p:spPr>
          <a:xfrm>
            <a:off x="228600" y="5486400"/>
            <a:ext cx="8686800" cy="320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R$ bilhões — variação acumulada vs. 2018 · diretos + indiretos via multiplicador Leontief</a:t>
            </a:r>
          </a:p>
        </p:txBody>
      </p:sp>
      <p:sp>
        <p:nvSpPr>
          <p:cNvPr id="84" name=""/>
          <p:cNvSpPr>
            <a:spLocks noGrp="1"/>
          </p:cNvSpPr>
          <p:nvPr>
            <p:ph/>
          </p:nvPr>
        </p:nvSpPr>
        <p:spPr>
          <a:xfrm>
            <a:off x="228600" y="5852160"/>
            <a:ext cx="8686800" cy="320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Decomposição: GDP scaling (Base)  +  Investimento (E1b)  +  Eficiência energética (E2)  +  Produção física (E3)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82296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365760" y="9144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Dashboard Interativo — Exploração de Cenários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274320" y="914400"/>
            <a:ext cx="8595360" cy="50292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274320" y="978408"/>
            <a:ext cx="8595360" cy="36576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cludovique.github.io/brazil-climate-macro-model/mma_scenarios_dashboard.html</a:t>
            </a:r>
          </a:p>
        </p:txBody>
      </p:sp>
      <p:pic>
        <p:nvPicPr>
          <p:cNvPr id="7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182880" y="1508760"/>
            <a:ext cx="1691640" cy="498348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8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274320" y="1554480"/>
            <a:ext cx="1508760" cy="54864"/>
          </a:xfrm>
          <a:prstGeom prst="rect">
            <a:avLst/>
          </a:prstGeom>
        </p:spPr>
      </p:pic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228600" y="1627632"/>
            <a:ext cx="1600200" cy="292608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Tab 1</a:t>
            </a:r>
          </a:p>
        </p:txBody>
      </p:sp>
      <p:sp>
        <p:nvSpPr>
          <p:cNvPr id="10" name=""/>
          <p:cNvSpPr>
            <a:spLocks noGrp="1"/>
          </p:cNvSpPr>
          <p:nvPr>
            <p:ph/>
          </p:nvPr>
        </p:nvSpPr>
        <p:spPr>
          <a:xfrm>
            <a:off x="228600" y="1938528"/>
            <a:ext cx="1600200" cy="45720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Produção Total</a:t>
            </a:r>
          </a:p>
        </p:txBody>
      </p:sp>
      <p:sp>
        <p:nvSpPr>
          <p:cNvPr id="11" name=""/>
          <p:cNvSpPr>
            <a:spLocks noGrp="1"/>
          </p:cNvSpPr>
          <p:nvPr>
            <p:ph/>
          </p:nvPr>
        </p:nvSpPr>
        <p:spPr>
          <a:xfrm>
            <a:off x="292608" y="2468880"/>
            <a:ext cx="1508760" cy="384048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Trajetória R$ tri: Base vs 25D vs 100D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KPIs nível absoluto + prêmio ± %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Toggle R$ tri ou % vs 2018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Decomp. por grupo setorial (GRP7)</a:t>
            </a:r>
          </a:p>
        </p:txBody>
      </p:sp>
      <p:pic>
        <p:nvPicPr>
          <p:cNvPr id="12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1965960" y="1508760"/>
            <a:ext cx="1691640" cy="498348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13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2057400" y="1554480"/>
            <a:ext cx="1508760" cy="54864"/>
          </a:xfrm>
          <a:prstGeom prst="rect">
            <a:avLst/>
          </a:prstGeom>
        </p:spPr>
      </p:pic>
      <p:sp>
        <p:nvSpPr>
          <p:cNvPr id="14" name=""/>
          <p:cNvSpPr>
            <a:spLocks noGrp="1"/>
          </p:cNvSpPr>
          <p:nvPr>
            <p:ph/>
          </p:nvPr>
        </p:nvSpPr>
        <p:spPr>
          <a:xfrm>
            <a:off x="2011680" y="1627632"/>
            <a:ext cx="1600200" cy="292608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Tab 2</a:t>
            </a:r>
          </a:p>
        </p:txBody>
      </p:sp>
      <p:sp>
        <p:nvSpPr>
          <p:cNvPr id="15" name=""/>
          <p:cNvSpPr>
            <a:spLocks noGrp="1"/>
          </p:cNvSpPr>
          <p:nvPr>
            <p:ph/>
          </p:nvPr>
        </p:nvSpPr>
        <p:spPr>
          <a:xfrm>
            <a:off x="2011680" y="1938528"/>
            <a:ext cx="1600200" cy="45720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PIB e Emprego</a:t>
            </a:r>
          </a:p>
        </p:txBody>
      </p:sp>
      <p:sp>
        <p:nvSpPr>
          <p:cNvPr id="16" name=""/>
          <p:cNvSpPr>
            <a:spLocks noGrp="1"/>
          </p:cNvSpPr>
          <p:nvPr>
            <p:ph/>
          </p:nvPr>
        </p:nvSpPr>
        <p:spPr>
          <a:xfrm>
            <a:off x="2075688" y="2468880"/>
            <a:ext cx="1508760" cy="384048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VA (PIB) total e prêmio de transição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Emprego: base + 100D + prêmio dir./ind.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Nível empregos setores de energia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Decomposição por fonte de choque</a:t>
            </a:r>
          </a:p>
        </p:txBody>
      </p:sp>
      <p:pic>
        <p:nvPicPr>
          <p:cNvPr id="17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3749040" y="1508760"/>
            <a:ext cx="1691640" cy="498348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18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3840480" y="1554480"/>
            <a:ext cx="1508760" cy="54864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p:ph/>
          </p:nvPr>
        </p:nvSpPr>
        <p:spPr>
          <a:xfrm>
            <a:off x="3794760" y="1627632"/>
            <a:ext cx="1600200" cy="292608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Tab 3</a:t>
            </a:r>
          </a:p>
        </p:txBody>
      </p:sp>
      <p:sp>
        <p:nvSpPr>
          <p:cNvPr id="20" name=""/>
          <p:cNvSpPr>
            <a:spLocks noGrp="1"/>
          </p:cNvSpPr>
          <p:nvPr>
            <p:ph/>
          </p:nvPr>
        </p:nvSpPr>
        <p:spPr>
          <a:xfrm>
            <a:off x="3794760" y="1938528"/>
            <a:ext cx="1600200" cy="45720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Análise Setorial</a:t>
            </a:r>
          </a:p>
        </p:txBody>
      </p:sp>
      <p:sp>
        <p:nvSpPr>
          <p:cNvPr id="21" name=""/>
          <p:cNvSpPr>
            <a:spLocks noGrp="1"/>
          </p:cNvSpPr>
          <p:nvPr>
            <p:ph/>
          </p:nvPr>
        </p:nvSpPr>
        <p:spPr>
          <a:xfrm>
            <a:off x="3858768" y="2468880"/>
            <a:ext cx="1508760" cy="384048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Top 15 setores por ΔProdução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Tabela 73 setores filtrável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Linkages: BL/FL antes e após 100D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Coef. técnicos A* por setor</a:t>
            </a:r>
          </a:p>
        </p:txBody>
      </p:sp>
      <p:pic>
        <p:nvPicPr>
          <p:cNvPr id="22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5532120" y="1508760"/>
            <a:ext cx="1691640" cy="498348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2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5623560" y="1554480"/>
            <a:ext cx="1508760" cy="54864"/>
          </a:xfrm>
          <a:prstGeom prst="rect">
            <a:avLst/>
          </a:prstGeom>
        </p:spPr>
      </p:pic>
      <p:sp>
        <p:nvSpPr>
          <p:cNvPr id="24" name=""/>
          <p:cNvSpPr>
            <a:spLocks noGrp="1"/>
          </p:cNvSpPr>
          <p:nvPr>
            <p:ph/>
          </p:nvPr>
        </p:nvSpPr>
        <p:spPr>
          <a:xfrm>
            <a:off x="5577840" y="1627632"/>
            <a:ext cx="1600200" cy="292608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Tab 4</a:t>
            </a:r>
          </a:p>
        </p:txBody>
      </p:sp>
      <p:sp>
        <p:nvSpPr>
          <p:cNvPr id="25" name=""/>
          <p:cNvSpPr>
            <a:spLocks noGrp="1"/>
          </p:cNvSpPr>
          <p:nvPr>
            <p:ph/>
          </p:nvPr>
        </p:nvSpPr>
        <p:spPr>
          <a:xfrm>
            <a:off x="5577840" y="1938528"/>
            <a:ext cx="1600200" cy="45720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Mix Energético</a:t>
            </a:r>
          </a:p>
        </p:txBody>
      </p:sp>
      <p:sp>
        <p:nvSpPr>
          <p:cNvPr id="26" name=""/>
          <p:cNvSpPr>
            <a:spLocks noGrp="1"/>
          </p:cNvSpPr>
          <p:nvPr>
            <p:ph/>
          </p:nvPr>
        </p:nvSpPr>
        <p:spPr>
          <a:xfrm>
            <a:off x="5641848" y="2468880"/>
            <a:ext cx="1508760" cy="384048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Trajetória % elec/bio/fóssil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Por sub-setor MMA (Ferro, Cimento…)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Coef. A* base vs cenário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ALPHA: impacto ktep por fonte</a:t>
            </a:r>
          </a:p>
        </p:txBody>
      </p:sp>
      <p:pic>
        <p:nvPicPr>
          <p:cNvPr id="27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7315200" y="1508760"/>
            <a:ext cx="1691640" cy="498348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28" name="" descr=""/>
          <p:cNvPicPr>
            <a:picLocks noGrp="1"/>
          </p:cNvPicPr>
          <p:nvPr>
            <p:ph/>
          </p:nvPr>
        </p:nvPicPr>
        <p:blipFill>
          <a:blip r:embed="rId9"/>
          <a:stretch>
            <a:fillRect/>
          </a:stretch>
        </p:blipFill>
        <p:spPr>
          <a:xfrm>
            <a:off x="7406640" y="1554480"/>
            <a:ext cx="1508760" cy="54864"/>
          </a:xfrm>
          <a:prstGeom prst="rect">
            <a:avLst/>
          </a:prstGeom>
        </p:spPr>
      </p:pic>
      <p:sp>
        <p:nvSpPr>
          <p:cNvPr id="29" name=""/>
          <p:cNvSpPr>
            <a:spLocks noGrp="1"/>
          </p:cNvSpPr>
          <p:nvPr>
            <p:ph/>
          </p:nvPr>
        </p:nvSpPr>
        <p:spPr>
          <a:xfrm>
            <a:off x="7360920" y="1627632"/>
            <a:ext cx="1600200" cy="292608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Tab 5</a:t>
            </a:r>
          </a:p>
        </p:txBody>
      </p:sp>
      <p:sp>
        <p:nvSpPr>
          <p:cNvPr id="30" name=""/>
          <p:cNvSpPr>
            <a:spLocks noGrp="1"/>
          </p:cNvSpPr>
          <p:nvPr>
            <p:ph/>
          </p:nvPr>
        </p:nvSpPr>
        <p:spPr>
          <a:xfrm>
            <a:off x="7360920" y="1938528"/>
            <a:ext cx="1600200" cy="45720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Premissas &amp; Dados</a:t>
            </a:r>
          </a:p>
        </p:txBody>
      </p:sp>
      <p:sp>
        <p:nvSpPr>
          <p:cNvPr id="31" name=""/>
          <p:cNvSpPr>
            <a:spLocks noGrp="1"/>
          </p:cNvSpPr>
          <p:nvPr>
            <p:ph/>
          </p:nvPr>
        </p:nvSpPr>
        <p:spPr>
          <a:xfrm>
            <a:off x="7424928" y="2468880"/>
            <a:ext cx="1508760" cy="384048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Produção física por produto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Decomposição demanda final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Multiplicadores Type I/II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Mapeamento setorial e premissas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82296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365760" y="9144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Agenda de Pesquisa &amp; Colaboração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182880" y="914400"/>
            <a:ext cx="4297680" cy="571500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365760" y="987552"/>
            <a:ext cx="393192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Lacunas do Modelo</a:t>
            </a:r>
          </a:p>
        </p:txBody>
      </p:sp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411480" y="1508760"/>
            <a:ext cx="3840480" cy="320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Calibração ALOC_INV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411480" y="1810512"/>
            <a:ext cx="3840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Pesos de FBCF são premissas manuais. Precisam ser derivados do detalhamento por tema/tecnologia do Plano MMA (eólica, solar, VEs, biocombustíveis) e mapeados para códigos IO.</a:t>
            </a:r>
          </a:p>
        </p:txBody>
      </p:sp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411480" y="2514600"/>
            <a:ext cx="3840480" cy="320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Coeficiente A[S22, S43]</a:t>
            </a:r>
          </a:p>
        </p:txBody>
      </p:sp>
      <p:sp>
        <p:nvSpPr>
          <p:cNvPr id="10" name=""/>
          <p:cNvSpPr>
            <a:spLocks noGrp="1"/>
          </p:cNvSpPr>
          <p:nvPr>
            <p:ph/>
          </p:nvPr>
        </p:nvSpPr>
        <p:spPr>
          <a:xfrm>
            <a:off x="411480" y="2816352"/>
            <a:ext cx="3840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Aumento de insumos de biomassa na produção de biometano não implementado. Requer coef. técnico (ktep biomassa / PJ biometano). Fonte: EPE BEN ou ANP.</a:t>
            </a:r>
          </a:p>
        </p:txBody>
      </p:sp>
      <p:sp>
        <p:nvSpPr>
          <p:cNvPr id="11" name=""/>
          <p:cNvSpPr>
            <a:spLocks noGrp="1"/>
          </p:cNvSpPr>
          <p:nvPr>
            <p:ph/>
          </p:nvPr>
        </p:nvSpPr>
        <p:spPr>
          <a:xfrm>
            <a:off x="411480" y="3520440"/>
            <a:ext cx="3840480" cy="320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Engine 4 — Satélite de Emissões</a:t>
            </a:r>
          </a:p>
        </p:txBody>
      </p:sp>
      <p:sp>
        <p:nvSpPr>
          <p:cNvPr id="12" name=""/>
          <p:cNvSpPr>
            <a:spLocks noGrp="1"/>
          </p:cNvSpPr>
          <p:nvPr>
            <p:ph/>
          </p:nvPr>
        </p:nvSpPr>
        <p:spPr>
          <a:xfrm>
            <a:off x="411480" y="3822192"/>
            <a:ext cx="3840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Conta satélite de MtCO₂e por setor está desativada. Requer coef. de intensidade de carbono por fonte × setor, calibrados com inventário SEEG/MCTI.</a:t>
            </a:r>
          </a:p>
        </p:txBody>
      </p:sp>
      <p:sp>
        <p:nvSpPr>
          <p:cNvPr id="13" name=""/>
          <p:cNvSpPr>
            <a:spLocks noGrp="1"/>
          </p:cNvSpPr>
          <p:nvPr>
            <p:ph/>
          </p:nvPr>
        </p:nvSpPr>
        <p:spPr>
          <a:xfrm>
            <a:off x="411480" y="4526280"/>
            <a:ext cx="3840480" cy="320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Componente residencial (Cidades)</a:t>
            </a:r>
          </a:p>
        </p:txBody>
      </p:sp>
      <p:sp>
        <p:nvSpPr>
          <p:cNvPr id="14" name=""/>
          <p:cNvSpPr>
            <a:spLocks noGrp="1"/>
          </p:cNvSpPr>
          <p:nvPr>
            <p:ph/>
          </p:nvPr>
        </p:nvSpPr>
        <p:spPr>
          <a:xfrm>
            <a:off x="411480" y="4828032"/>
            <a:ext cx="3840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Uso energético domiciliar é demanda final (famílias), não insumo intermediário. Modelagem correta requer choque no vetor f (coluna Famílias).</a:t>
            </a:r>
          </a:p>
        </p:txBody>
      </p:sp>
      <p:sp>
        <p:nvSpPr>
          <p:cNvPr id="15" name=""/>
          <p:cNvSpPr>
            <a:spLocks noGrp="1"/>
          </p:cNvSpPr>
          <p:nvPr>
            <p:ph/>
          </p:nvPr>
        </p:nvSpPr>
        <p:spPr>
          <a:xfrm>
            <a:off x="411480" y="5532120"/>
            <a:ext cx="3840480" cy="320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Validação com EPE BEN</a:t>
            </a:r>
          </a:p>
        </p:txBody>
      </p:sp>
      <p:sp>
        <p:nvSpPr>
          <p:cNvPr id="16" name=""/>
          <p:cNvSpPr>
            <a:spLocks noGrp="1"/>
          </p:cNvSpPr>
          <p:nvPr>
            <p:ph/>
          </p:nvPr>
        </p:nvSpPr>
        <p:spPr>
          <a:xfrm>
            <a:off x="411480" y="5833872"/>
            <a:ext cx="3840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Coef. ALPHA construídos com dados EPE 2018. Recomenda-se confronto com série histórica BEN/BEU setorial para confirmar consistência.</a:t>
            </a:r>
          </a:p>
        </p:txBody>
      </p:sp>
      <p:pic>
        <p:nvPicPr>
          <p:cNvPr id="17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4663440" y="914400"/>
            <a:ext cx="4297680" cy="571500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sp>
        <p:nvSpPr>
          <p:cNvPr id="18" name=""/>
          <p:cNvSpPr>
            <a:spLocks noGrp="1"/>
          </p:cNvSpPr>
          <p:nvPr>
            <p:ph/>
          </p:nvPr>
        </p:nvSpPr>
        <p:spPr>
          <a:xfrm>
            <a:off x="4846320" y="987552"/>
            <a:ext cx="393192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Como Colaborar</a:t>
            </a:r>
          </a:p>
        </p:txBody>
      </p:sp>
      <p:sp>
        <p:nvSpPr>
          <p:cNvPr id="19" name=""/>
          <p:cNvSpPr>
            <a:spLocks noGrp="1"/>
          </p:cNvSpPr>
          <p:nvPr>
            <p:ph/>
          </p:nvPr>
        </p:nvSpPr>
        <p:spPr>
          <a:xfrm>
            <a:off x="4892040" y="1508760"/>
            <a:ext cx="3840480" cy="320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Dados EPE BEN setoriais</a:t>
            </a:r>
          </a:p>
        </p:txBody>
      </p:sp>
      <p:sp>
        <p:nvSpPr>
          <p:cNvPr id="20" name=""/>
          <p:cNvSpPr>
            <a:spLocks noGrp="1"/>
          </p:cNvSpPr>
          <p:nvPr>
            <p:ph/>
          </p:nvPr>
        </p:nvSpPr>
        <p:spPr>
          <a:xfrm>
            <a:off x="4892040" y="1810512"/>
            <a:ext cx="3840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Série histórica de consumo energético por setor e por fonte, para calibrar e validar a matriz ALPHA de intensidade energética.</a:t>
            </a:r>
          </a:p>
        </p:txBody>
      </p:sp>
      <p:sp>
        <p:nvSpPr>
          <p:cNvPr id="21" name=""/>
          <p:cNvSpPr>
            <a:spLocks noGrp="1"/>
          </p:cNvSpPr>
          <p:nvPr>
            <p:ph/>
          </p:nvPr>
        </p:nvSpPr>
        <p:spPr>
          <a:xfrm>
            <a:off x="4892040" y="2514600"/>
            <a:ext cx="3840480" cy="320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Coeficientes de processo industrial</a:t>
            </a:r>
          </a:p>
        </p:txBody>
      </p:sp>
      <p:sp>
        <p:nvSpPr>
          <p:cNvPr id="22" name=""/>
          <p:cNvSpPr>
            <a:spLocks noGrp="1"/>
          </p:cNvSpPr>
          <p:nvPr>
            <p:ph/>
          </p:nvPr>
        </p:nvSpPr>
        <p:spPr>
          <a:xfrm>
            <a:off x="4892040" y="2816352"/>
            <a:ext cx="3840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Coef. técnicos de entrada de biomassa/H₂ para siderurgia e cimento (EPE, IPT, IABR, SNIC) para Engine 2 desagregado.</a:t>
            </a:r>
          </a:p>
        </p:txBody>
      </p:sp>
      <p:sp>
        <p:nvSpPr>
          <p:cNvPr id="23" name=""/>
          <p:cNvSpPr>
            <a:spLocks noGrp="1"/>
          </p:cNvSpPr>
          <p:nvPr>
            <p:ph/>
          </p:nvPr>
        </p:nvSpPr>
        <p:spPr>
          <a:xfrm>
            <a:off x="4892040" y="3520440"/>
            <a:ext cx="3840480" cy="320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Confronto com BLUES / MAED-BR</a:t>
            </a:r>
          </a:p>
        </p:txBody>
      </p:sp>
      <p:sp>
        <p:nvSpPr>
          <p:cNvPr id="24" name=""/>
          <p:cNvSpPr>
            <a:spLocks noGrp="1"/>
          </p:cNvSpPr>
          <p:nvPr>
            <p:ph/>
          </p:nvPr>
        </p:nvSpPr>
        <p:spPr>
          <a:xfrm>
            <a:off x="4892040" y="3822192"/>
            <a:ext cx="3840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Validação cruzada das trajetórias de mix setorial com resultados BLUES/EPE para checar coerência dos scale factors do Engine 2.</a:t>
            </a:r>
          </a:p>
        </p:txBody>
      </p:sp>
      <p:sp>
        <p:nvSpPr>
          <p:cNvPr id="25" name=""/>
          <p:cNvSpPr>
            <a:spLocks noGrp="1"/>
          </p:cNvSpPr>
          <p:nvPr>
            <p:ph/>
          </p:nvPr>
        </p:nvSpPr>
        <p:spPr>
          <a:xfrm>
            <a:off x="4892040" y="4526280"/>
            <a:ext cx="3840480" cy="320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Extensão: LULUCF e Agropecuária</a:t>
            </a:r>
          </a:p>
        </p:txBody>
      </p:sp>
      <p:sp>
        <p:nvSpPr>
          <p:cNvPr id="26" name=""/>
          <p:cNvSpPr>
            <a:spLocks noGrp="1"/>
          </p:cNvSpPr>
          <p:nvPr>
            <p:ph/>
          </p:nvPr>
        </p:nvSpPr>
        <p:spPr>
          <a:xfrm>
            <a:off x="4892040" y="4828032"/>
            <a:ext cx="3840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Modelos biofísicos de uso da terra → choques IO em S01-S09 com dados de área e produtividade do Plano MMA.</a:t>
            </a:r>
          </a:p>
        </p:txBody>
      </p:sp>
      <p:sp>
        <p:nvSpPr>
          <p:cNvPr id="27" name=""/>
          <p:cNvSpPr>
            <a:spLocks noGrp="1"/>
          </p:cNvSpPr>
          <p:nvPr>
            <p:ph/>
          </p:nvPr>
        </p:nvSpPr>
        <p:spPr>
          <a:xfrm>
            <a:off x="4892040" y="5532120"/>
            <a:ext cx="3840480" cy="320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Análise de sensibilidade</a:t>
            </a:r>
          </a:p>
        </p:txBody>
      </p:sp>
      <p:sp>
        <p:nvSpPr>
          <p:cNvPr id="28" name=""/>
          <p:cNvSpPr>
            <a:spLocks noGrp="1"/>
          </p:cNvSpPr>
          <p:nvPr>
            <p:ph/>
          </p:nvPr>
        </p:nvSpPr>
        <p:spPr>
          <a:xfrm>
            <a:off x="4892040" y="5833872"/>
            <a:ext cx="3840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Sensibilidade dos prêmios de PIB e emprego às premissas de ALOC_INV, taxas de crescimento e trajetórias de mix (análise paramétrica).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0"/>
            </a:srgbClr>
          </a:solidFill>
        </p:spPr>
      </p:pic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0040" y="1828800"/>
            <a:ext cx="64008" cy="320040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640080" y="1920240"/>
            <a:ext cx="8229600" cy="9144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000" i="0" b="1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Obrigada!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40080" y="2926080"/>
            <a:ext cx="777240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Código aberto — comentários, críticas e contribuições são bem-vindos.</a:t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640080" y="3611880"/>
            <a:ext cx="265176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🔗 GitHub (código e dados):</a:t>
            </a:r>
          </a:p>
        </p:txBody>
      </p:sp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3383280" y="3611880"/>
            <a:ext cx="539496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github.com/cludovique/brazil-climate-macro-model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640080" y="4251960"/>
            <a:ext cx="265176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🌐 Dashboard interativo:</a:t>
            </a:r>
          </a:p>
        </p:txBody>
      </p:sp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3383280" y="4251960"/>
            <a:ext cx="539496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cludovique.github.io/brazil-climate-macro-model/</a:t>
            </a:r>
          </a:p>
        </p:txBody>
      </p:sp>
      <p:sp>
        <p:nvSpPr>
          <p:cNvPr id="10" name=""/>
          <p:cNvSpPr>
            <a:spLocks noGrp="1"/>
          </p:cNvSpPr>
          <p:nvPr>
            <p:ph/>
          </p:nvPr>
        </p:nvSpPr>
        <p:spPr>
          <a:xfrm>
            <a:off x="640080" y="4892040"/>
            <a:ext cx="265176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📊 Cenários MMA:</a:t>
            </a:r>
          </a:p>
        </p:txBody>
      </p:sp>
      <p:sp>
        <p:nvSpPr>
          <p:cNvPr id="11" name=""/>
          <p:cNvSpPr>
            <a:spLocks noGrp="1"/>
          </p:cNvSpPr>
          <p:nvPr>
            <p:ph/>
          </p:nvPr>
        </p:nvSpPr>
        <p:spPr>
          <a:xfrm>
            <a:off x="3383280" y="4892040"/>
            <a:ext cx="539496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MMA-SMC v3 AR5 (07/10/2024)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2026-06-01T17:07:47Z</dcterms:modified>
  <cp:category/>
</cp:coreProperties>
</file>