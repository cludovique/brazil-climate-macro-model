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16x9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Relationship Id="rId9" Type="http://schemas.openxmlformats.org/officeDocument/2006/relationships/slide" Target="slides/slide2.xml"/>
<Relationship Id="rId10" Type="http://schemas.openxmlformats.org/officeDocument/2006/relationships/slide" Target="slides/slide3.xml"/>
<Relationship Id="rId11" Type="http://schemas.openxmlformats.org/officeDocument/2006/relationships/slide" Target="slides/slide4.xml"/>
<Relationship Id="rId12" Type="http://schemas.openxmlformats.org/officeDocument/2006/relationships/slide" Target="slides/slide5.xml"/>
<Relationship Id="rId13" Type="http://schemas.openxmlformats.org/officeDocument/2006/relationships/slide" Target="slides/slide6.xml"/>
<Relationship Id="rId14" Type="http://schemas.openxmlformats.org/officeDocument/2006/relationships/slide" Target="slides/slide7.xml"/>
<Relationship Id="rId15" Type="http://schemas.openxmlformats.org/officeDocument/2006/relationships/slide" Target="slides/slide8.xml"/>
<Relationship Id="rId16" Type="http://schemas.openxmlformats.org/officeDocument/2006/relationships/slide" Target="slides/slide9.xml"/>
<Relationship Id="rId17" Type="http://schemas.openxmlformats.org/officeDocument/2006/relationships/slide" Target="slides/slide10.xml"/>
<Relationship Id="rId18" Type="http://schemas.openxmlformats.org/officeDocument/2006/relationships/slide" Target="slides/slide1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8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9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10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_rels/slide1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29768" y="1417320"/>
            <a:ext cx="64008" cy="393192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50392" y="1417320"/>
            <a:ext cx="10972800" cy="10058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MIP × MMA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850392" y="2514600"/>
            <a:ext cx="10515600" cy="13716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0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Avaliando os Impactos Macroeconômicos
da Transição Energética Brasileira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850392" y="3977640"/>
            <a:ext cx="1097280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Modelo de Insumo-Produto EPE/FIPE (73 setores)  ×  Cenários MMA-SMC v3 AR5 (2024)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850392" y="5852160"/>
            <a:ext cx="5486400" cy="3657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Reunião Técnica PPE  ·  Junho 2025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400800" y="5852160"/>
            <a:ext cx="5486400" cy="365760"/>
          </a:xfr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Por que este modelo?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46888" y="960120"/>
            <a:ext cx="384048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93192" y="1024128"/>
            <a:ext cx="3538728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29768" y="111556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 Brasil tem metas ambiciosas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429768" y="1664208"/>
            <a:ext cx="3538728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Cenário 100D (MMA-SMC v3): descarbonização total até 2050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Setores: Energia, Indústria, Transporte, Cidades, Agropecuária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Plano de R$1+ tri em investimentos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Mas: quais são os impactos econômicos setoriais?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233672" y="960120"/>
            <a:ext cx="384048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4379976" y="1024128"/>
            <a:ext cx="3538728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4416552" y="111556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lacuna analítica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4416552" y="1664208"/>
            <a:ext cx="3538728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Cenários MMA expressos em unidades físicas (TWh, Mt, kbep)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Não há tradução automática para R$, empregos e PIB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Multiplicadores setoriais variam 2×–12× entre setores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Decisões de política precisam de números econômicos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220456" y="960120"/>
            <a:ext cx="3840480" cy="52120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8366760" y="1024128"/>
            <a:ext cx="3538728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8403336" y="111556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 ponte: MIP × MMA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8403336" y="1664208"/>
            <a:ext cx="3538728" cy="42976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MIP-EPE 2018: modelo Leontief de 73 setores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3 engines: Demanda Final, Coef. Técnicos, Produção Física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Mapeia targets físicos → ΔProdução, ΔPIB, ΔEmprego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Dashboard interativo para exploração de cenários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65760" y="6309360"/>
            <a:ext cx="1143000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Abordagem macroeconômica setorial, compatível com BLUES/EPE e metodologia IPCC AR5.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Arquitetura do Modelo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182880" y="987552"/>
            <a:ext cx="3172968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ENTRADAS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657600" y="987552"/>
            <a:ext cx="523951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ENGINES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9262872" y="987552"/>
            <a:ext cx="256032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182880" y="1371600"/>
            <a:ext cx="3172968" cy="2011680"/>
          </a:xfrm>
          <a:solidFill>
            <a:srgbClr val="2A3F6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182880" y="1463040"/>
            <a:ext cx="3172968" cy="5943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Cenários MMA-SMC
v3 AR5 (2024)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246888" y="2103120"/>
            <a:ext cx="3044952" cy="11887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Mix energético 2025–2050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Volumes físicos (TWh, Mt)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Investimentos (bi USD)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GHG por setor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182880" y="3566160"/>
            <a:ext cx="3172968" cy="2011680"/>
          </a:xfrm>
          <a:solidFill>
            <a:srgbClr val="2A3F6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182880" y="3657600"/>
            <a:ext cx="3172968" cy="5943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MIP-EPE 2018
73 Setores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46888" y="4251960"/>
            <a:ext cx="3044952" cy="123444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Matriz A (coef. técnicos)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Leontief L = (I-A)⁻¹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Satélites: VA, Empregos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ALPHA: ktep/R$M (6 fontes)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392424" y="2148840"/>
            <a:ext cx="36576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392424" y="3566160"/>
            <a:ext cx="36576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8897112" y="3017520"/>
            <a:ext cx="365760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→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657600" y="1371600"/>
            <a:ext cx="5239512" cy="1234440"/>
          </a:xfrm>
          <a:solidFill>
            <a:srgbClr val="1D5C46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3840480" y="1444752"/>
            <a:ext cx="49377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1: Demanda Final (Δf)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3840480" y="1920240"/>
            <a:ext cx="493776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1a: Escala do PIB (gdp_idx × f_base)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1b: Investimento de transição (ALOC_INV)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657600" y="2788920"/>
            <a:ext cx="5239512" cy="1234440"/>
          </a:xfrm>
          <a:solidFill>
            <a:srgbClr val="1A4A7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3840480" y="2862072"/>
            <a:ext cx="49377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2: Coef. Técnicos (ΔA)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3840480" y="3337560"/>
            <a:ext cx="493776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BLUES-style: sc = share_novo / share_base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6 grupos: Indústria, Transporte, Cidades, Geração…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3657600" y="4206240"/>
            <a:ext cx="5239512" cy="1234440"/>
          </a:xfrm>
          <a:solidFill>
            <a:srgbClr val="6B4C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3840480" y="4279392"/>
            <a:ext cx="4937760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3: Produção Física (Δx)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3840480" y="4754880"/>
            <a:ext cx="4937760" cy="59436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Volumes MMA → calibração R$ setorial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Petróleo, Eletricidade, Biocomb., Siderurgia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9262872" y="1371600"/>
            <a:ext cx="2679192" cy="4663440"/>
          </a:xfrm>
          <a:solidFill>
            <a:srgbClr val="1D5038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9262872" y="1463040"/>
            <a:ext cx="2679192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9326880" y="1920240"/>
            <a:ext cx="256032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Produção (R$ tri)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PIB / VA (R$ bi)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Empregos (mi)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Δ Renda salarial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Prêmio da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Mix energético A*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Multiplicadores L*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GHG induzido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Base: MIP-EPE 2018 (73 setores)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65760" y="1005840"/>
            <a:ext cx="2807208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48056" y="1143000"/>
            <a:ext cx="64008" cy="118872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667512" y="1143000"/>
            <a:ext cx="244144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R$ 10,7 tri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67512" y="1664208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Produção Total Bruta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67512" y="2011680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VBP a preços básicos · 2018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3355848" y="1005840"/>
            <a:ext cx="2807208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438144" y="1143000"/>
            <a:ext cx="64008" cy="118872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657600" y="1143000"/>
            <a:ext cx="244144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R$ 6,0 tri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657600" y="1664208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Valor Adicionado (PIB)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657600" y="2011680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 a preços básicos · 2018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65760" y="2743200"/>
            <a:ext cx="2807208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448056" y="2880360"/>
            <a:ext cx="64008" cy="118872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67512" y="2880360"/>
            <a:ext cx="244144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104,3 mi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667512" y="3401568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Postos de Trabalho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667512" y="3749040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Ocupações formais + informais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355848" y="2743200"/>
            <a:ext cx="2807208" cy="15087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3438144" y="2880360"/>
            <a:ext cx="64008" cy="118872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3657600" y="2880360"/>
            <a:ext cx="244144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73 setores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3657600" y="3401568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Setores da Economia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3657600" y="3749040"/>
            <a:ext cx="2441448" cy="34747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Classificação EPE/FIPE · IBGE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6400800" y="1005840"/>
            <a:ext cx="5550408" cy="53949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6647688" y="1097280"/>
            <a:ext cx="5120640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Satélite Energético — Matriz ALPHA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6647688" y="150876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ktep por R$ Milhão de produção  ×  73 setores  ×  6 fontes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6675120" y="1920240"/>
            <a:ext cx="64008" cy="45720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6885432" y="1920240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Derivados de Petróleo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6885432" y="2194560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Transporte, Refino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6675120" y="2624328"/>
            <a:ext cx="64008" cy="457200"/>
          </a:xfrm>
          <a:solidFill>
            <a:srgbClr val="F0A05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6885432" y="2624328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Gás Natural</a:t>
            </a: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6885432" y="2898648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Indústria pesada, edificações</a:t>
            </a: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6675120" y="3328416"/>
            <a:ext cx="64008" cy="45720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6885432" y="3328416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Biodiesel / HVO</a:t>
            </a: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6885432" y="3602736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 rodoviário pesado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6675120" y="4032504"/>
            <a:ext cx="64008" cy="45720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6885432" y="4032504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Etanol / Biocombustíveis</a:t>
            </a: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6885432" y="4306824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Flex, aviação, naval</a:t>
            </a: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6675120" y="4736592"/>
            <a:ext cx="64008" cy="45720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6885432" y="4736592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EE Centralizada (S40)</a:t>
            </a: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6885432" y="5010912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Geração e distribuidoras</a:t>
            </a: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6675120" y="5440680"/>
            <a:ext cx="64008" cy="457200"/>
          </a:xfrm>
          <a:solidFill>
            <a:srgbClr val="6AADF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6885432" y="5440680"/>
            <a:ext cx="3172968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EE Distribuída (S41)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6885432" y="5715000"/>
            <a:ext cx="3172968" cy="256032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Solar FV, micro-hidro</a:t>
            </a: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6647688" y="6126480"/>
            <a:ext cx="5120640" cy="2743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Uso: ALPHA × Δx = variação no consumo de energia por fonte (ktep)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1  —  Demanda Final (Δf)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46888" y="1005840"/>
            <a:ext cx="5669280" cy="530352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84632" y="1097280"/>
            <a:ext cx="5239512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1a  •  Escala do PIB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84632" y="1645920"/>
            <a:ext cx="5239512" cy="43891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Fonte: Planilha PIB_Pop do MMA (índice por ano)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Δf_PIB = f_base × (gdp_idx × 0,97 − 1)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Escala todos os componentes da demanda final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CAGR implícito: ~2,4% a.a. (2018–2050)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Setores Engine 3 recebem Δf=0 (evita dupla contagem)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E3: S05 petróleo, S19 refino, S40 geração, S42 transmissão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6153912" y="1005840"/>
            <a:ext cx="5788152" cy="530352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6400800" y="1097280"/>
            <a:ext cx="53675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1b  •  Investimento de Transição (FBCF)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6400800" y="1645920"/>
            <a:ext cx="5367528" cy="438912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Fonte: Aba Custos MMA — Custo Anual Equivalente (CAE)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Conversão: bi USD2023 → R$2018 (fator 2,92)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100D: ~R$762 bi/ano em investimentos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Adicionado como FBCF setorial (formação bruta de capital fixo)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ALOC_INV: pesos por setor IO — premissa a calibrar com dados MMA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▸  Maiores receptores: geração, construção, biocomb., veículos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2  —  Substituição Energética (ΔA)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612648" y="914400"/>
            <a:ext cx="10972800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sc_combustível = share_cenário(t) / share_base(2020)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612648" y="1325880"/>
            <a:ext cx="10972800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A*(j,t) = A(j) × sc    →    L*(t) = (I − A*)⁻¹    →    Δx = L* × Δf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182880" y="1874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01752" y="1938528"/>
            <a:ext cx="2624328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329184" y="2039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Ferro e Aço (S29)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329184" y="2532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Foss+H₂ → eletricidade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29184" y="3200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61,9% | Bio 29% | Elec 9,1%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3200400" y="1874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3319272" y="1938528"/>
            <a:ext cx="2624328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3346704" y="2039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Cimento (S28)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3346704" y="2532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Coque → biomassa + clínquer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3346704" y="3200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67,4% | Bio 18,3% | Elec 14,4%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217920" y="1874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6336792" y="1938528"/>
            <a:ext cx="2624328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6364224" y="2039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Químico (S24-26)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6364224" y="2532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Nafta → bioquímicos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6364224" y="3200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Foss 66,6% | Bio 2,3% | Elec 31,2%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9235440" y="1874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9354312" y="1938528"/>
            <a:ext cx="2624328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9381744" y="2039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Outros Indústria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9381744" y="2532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25 setores manufatureiros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9381744" y="3200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Mix diverso BLUES-style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182880" y="4160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301752" y="4224528"/>
            <a:ext cx="2624328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329184" y="4325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Transporte (S48-52)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329184" y="4818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Eletrificação + biocombustíveis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329184" y="5486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Elec 0,4%→17% | Bio 30,3%→?</a:t>
            </a: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3200400" y="4160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3319272" y="4224528"/>
            <a:ext cx="2624328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3346704" y="4325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Cidades/Edifícios</a:t>
            </a: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3346704" y="4818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S52/53/59/S66-70</a:t>
            </a: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3346704" y="5486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Elec 62,5%→95% | Gás 26%→5%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6217920" y="4160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6336792" y="4224528"/>
            <a:ext cx="2624328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6364224" y="4325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Geração Elétrica (S40)</a:t>
            </a: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6364224" y="4818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Fóssil 14,6%→0,7% (2050)</a:t>
            </a: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6364224" y="5486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normalize=FALSE: redução genuína</a:t>
            </a: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9235440" y="4160520"/>
            <a:ext cx="2862072" cy="20574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9354312" y="4224528"/>
            <a:ext cx="2624328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9381744" y="4325112"/>
            <a:ext cx="2624328" cy="4572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Refino/Gás (S19/43)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9381744" y="4818888"/>
            <a:ext cx="26243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Coprocessamento + biometano</a:t>
            </a: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9381744" y="5486400"/>
            <a:ext cx="26243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S43: 0→~780 PJ biometano 2050</a:t>
            </a:r>
          </a:p>
        </p:txBody>
      </p:sp>
      <p:sp>
        <p:nvSpPr>
          <p:cNvPr id="47" name=""/>
          <p:cNvSpPr>
            <a:spLocks noGrp="1"/>
          </p:cNvSpPr>
          <p:nvPr>
            <p:ph/>
          </p:nvPr>
        </p:nvSpPr>
        <p:spPr>
          <a:xfrm>
            <a:off x="246888" y="6492240"/>
            <a:ext cx="11704320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normalize=TRUE preserva intensidade energética total (transporte, indústria)  |  normalize=FALSE permite redução genuína (geração elétrica −95% fóssil)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3  —  Calibração por Volume Físico (Δx)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65760" y="914400"/>
            <a:ext cx="11457432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Para setores energéticos-chave, a produção é ancorada em metas físicas do MMA — não apenas escala PIB.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246888" y="150876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29768" y="161848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S05 — Petróleo bruto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429768" y="216712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R37: produção kbep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29768" y="280720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Pico 2030, declínio 58% até 2050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4233672" y="150876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4416552" y="161848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S19 — Refino/Derivados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4416552" y="216712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R40+R41: derivados dom. + exp. (ktep)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4416552" y="280720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Permanece +6% com coprocessamento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8220456" y="150876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8403336" y="161848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S40/S42 — Geração/Transm.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8403336" y="216712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R49: geração total TWh (base 679 TWh)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8403336" y="280720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Transmissão proporcional à geração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246888" y="388620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429768" y="399592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S22 — Biocomb. Avançados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429768" y="454456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Etanol+CCS + Gasolina Verde + BioQAV + Bunker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429768" y="518464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Base 1020 PJ + incremento cenário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4233672" y="388620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416552" y="399592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S20 — Biodiesel / HVO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4416552" y="454456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R78: Diesel Verde PJ + base 230 PJ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4416552" y="518464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Substitui diesel mineral em frotas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8220456" y="3886200"/>
            <a:ext cx="3776472" cy="219456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8403336" y="3995928"/>
            <a:ext cx="3538728" cy="50292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S29/S28 — Sid./Cimento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8403336" y="4544568"/>
            <a:ext cx="3538728" cy="5943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 R27 aço (Mt) + R41 clínquer (Mt)</a:t>
            </a: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8403336" y="5184648"/>
            <a:ext cx="3538728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Razão vs 2020 × VBP setorial 2018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Resultados — Prêmio da Transição 100D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65760" y="868680"/>
            <a:ext cx="11457432" cy="36576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= efeito líquido 100D vs. crescimento de base (PIB sem transição — apenas escala GDP)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182880" y="1325880"/>
            <a:ext cx="2258568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46888" y="1389888"/>
            <a:ext cx="2130552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R$ 13.6 tri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246888" y="1911096"/>
            <a:ext cx="213055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PIB — Nível 100D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246888" y="2231136"/>
            <a:ext cx="2130552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Valor Adicionado 2050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2560320" y="1325880"/>
            <a:ext cx="2258568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2624328" y="1389888"/>
            <a:ext cx="2130552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+R$ 0.67 tri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2624328" y="1911096"/>
            <a:ext cx="213055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PIB 2050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624328" y="2231136"/>
            <a:ext cx="2130552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100D vs. Linha de Base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937760" y="1325880"/>
            <a:ext cx="2258568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5001768" y="1389888"/>
            <a:ext cx="2130552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378ADD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235.5 mi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5001768" y="1911096"/>
            <a:ext cx="213055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Empregos 100D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5001768" y="2231136"/>
            <a:ext cx="2130552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Postos de trabalho 2050</a:t>
            </a: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7315200" y="1325880"/>
            <a:ext cx="2258568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7379208" y="1389888"/>
            <a:ext cx="2130552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+8.87 mi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7379208" y="1911096"/>
            <a:ext cx="213055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Emprego 2050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7379208" y="2231136"/>
            <a:ext cx="2130552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Empregos líquidos transição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9692640" y="1325880"/>
            <a:ext cx="2258568" cy="146304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9756648" y="1389888"/>
            <a:ext cx="2130552" cy="50292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0A05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+9.09 mi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9756648" y="1911096"/>
            <a:ext cx="2130552" cy="32004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Prêmio Emprego 2030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9756648" y="2231136"/>
            <a:ext cx="2130552" cy="41148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Horizonte intermediário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365760" y="2971800"/>
            <a:ext cx="11457432" cy="384048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Trajetória por Cenário — Variação de Produção (ΔR$ bi vs. 2018)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365760" y="3383280"/>
            <a:ext cx="1216152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402336" y="3410712"/>
            <a:ext cx="1143000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Cenário</a:t>
            </a: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1581912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1618488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2025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3291840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2" name=""/>
          <p:cNvSpPr>
            <a:spLocks noGrp="1"/>
          </p:cNvSpPr>
          <p:nvPr>
            <p:ph/>
          </p:nvPr>
        </p:nvSpPr>
        <p:spPr>
          <a:xfrm>
            <a:off x="3328416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2030</a:t>
            </a:r>
          </a:p>
        </p:txBody>
      </p:sp>
      <p:sp>
        <p:nvSpPr>
          <p:cNvPr id="33" name=""/>
          <p:cNvSpPr>
            <a:spLocks noGrp="1"/>
          </p:cNvSpPr>
          <p:nvPr>
            <p:ph/>
          </p:nvPr>
        </p:nvSpPr>
        <p:spPr>
          <a:xfrm>
            <a:off x="5001768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4" name=""/>
          <p:cNvSpPr>
            <a:spLocks noGrp="1"/>
          </p:cNvSpPr>
          <p:nvPr>
            <p:ph/>
          </p:nvPr>
        </p:nvSpPr>
        <p:spPr>
          <a:xfrm>
            <a:off x="5038344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2035</a:t>
            </a:r>
          </a:p>
        </p:txBody>
      </p:sp>
      <p:sp>
        <p:nvSpPr>
          <p:cNvPr id="35" name=""/>
          <p:cNvSpPr>
            <a:spLocks noGrp="1"/>
          </p:cNvSpPr>
          <p:nvPr>
            <p:ph/>
          </p:nvPr>
        </p:nvSpPr>
        <p:spPr>
          <a:xfrm>
            <a:off x="6711696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6" name=""/>
          <p:cNvSpPr>
            <a:spLocks noGrp="1"/>
          </p:cNvSpPr>
          <p:nvPr>
            <p:ph/>
          </p:nvPr>
        </p:nvSpPr>
        <p:spPr>
          <a:xfrm>
            <a:off x="6748272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2040</a:t>
            </a:r>
          </a:p>
        </p:txBody>
      </p:sp>
      <p:sp>
        <p:nvSpPr>
          <p:cNvPr id="37" name=""/>
          <p:cNvSpPr>
            <a:spLocks noGrp="1"/>
          </p:cNvSpPr>
          <p:nvPr>
            <p:ph/>
          </p:nvPr>
        </p:nvSpPr>
        <p:spPr>
          <a:xfrm>
            <a:off x="8421624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8" name=""/>
          <p:cNvSpPr>
            <a:spLocks noGrp="1"/>
          </p:cNvSpPr>
          <p:nvPr>
            <p:ph/>
          </p:nvPr>
        </p:nvSpPr>
        <p:spPr>
          <a:xfrm>
            <a:off x="8458200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2045</a:t>
            </a:r>
          </a:p>
        </p:txBody>
      </p:sp>
      <p:sp>
        <p:nvSpPr>
          <p:cNvPr id="39" name=""/>
          <p:cNvSpPr>
            <a:spLocks noGrp="1"/>
          </p:cNvSpPr>
          <p:nvPr>
            <p:ph/>
          </p:nvPr>
        </p:nvSpPr>
        <p:spPr>
          <a:xfrm>
            <a:off x="10131552" y="3383280"/>
            <a:ext cx="1709928" cy="347472"/>
          </a:xfrm>
          <a:solidFill>
            <a:srgbClr val="0D1F3C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0" name=""/>
          <p:cNvSpPr>
            <a:spLocks noGrp="1"/>
          </p:cNvSpPr>
          <p:nvPr>
            <p:ph/>
          </p:nvPr>
        </p:nvSpPr>
        <p:spPr>
          <a:xfrm>
            <a:off x="10168128" y="3410712"/>
            <a:ext cx="1636776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2050</a:t>
            </a:r>
          </a:p>
        </p:txBody>
      </p:sp>
      <p:sp>
        <p:nvSpPr>
          <p:cNvPr id="41" name=""/>
          <p:cNvSpPr>
            <a:spLocks noGrp="1"/>
          </p:cNvSpPr>
          <p:nvPr>
            <p:ph/>
          </p:nvPr>
        </p:nvSpPr>
        <p:spPr>
          <a:xfrm>
            <a:off x="365760" y="3749040"/>
            <a:ext cx="1216152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2" name=""/>
          <p:cNvSpPr>
            <a:spLocks noGrp="1"/>
          </p:cNvSpPr>
          <p:nvPr>
            <p:ph/>
          </p:nvPr>
        </p:nvSpPr>
        <p:spPr>
          <a:xfrm>
            <a:off x="402336" y="3840480"/>
            <a:ext cx="1143000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0D</a:t>
            </a:r>
          </a:p>
        </p:txBody>
      </p:sp>
      <p:sp>
        <p:nvSpPr>
          <p:cNvPr id="43" name=""/>
          <p:cNvSpPr>
            <a:spLocks noGrp="1"/>
          </p:cNvSpPr>
          <p:nvPr>
            <p:ph/>
          </p:nvPr>
        </p:nvSpPr>
        <p:spPr>
          <a:xfrm>
            <a:off x="1581912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4" name=""/>
          <p:cNvSpPr>
            <a:spLocks noGrp="1"/>
          </p:cNvSpPr>
          <p:nvPr>
            <p:ph/>
          </p:nvPr>
        </p:nvSpPr>
        <p:spPr>
          <a:xfrm>
            <a:off x="1618488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3222</a:t>
            </a:r>
          </a:p>
        </p:txBody>
      </p:sp>
      <p:sp>
        <p:nvSpPr>
          <p:cNvPr id="45" name=""/>
          <p:cNvSpPr>
            <a:spLocks noGrp="1"/>
          </p:cNvSpPr>
          <p:nvPr>
            <p:ph/>
          </p:nvPr>
        </p:nvSpPr>
        <p:spPr>
          <a:xfrm>
            <a:off x="3291840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6" name=""/>
          <p:cNvSpPr>
            <a:spLocks noGrp="1"/>
          </p:cNvSpPr>
          <p:nvPr>
            <p:ph/>
          </p:nvPr>
        </p:nvSpPr>
        <p:spPr>
          <a:xfrm>
            <a:off x="3328416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4414</a:t>
            </a:r>
          </a:p>
        </p:txBody>
      </p:sp>
      <p:sp>
        <p:nvSpPr>
          <p:cNvPr id="47" name=""/>
          <p:cNvSpPr>
            <a:spLocks noGrp="1"/>
          </p:cNvSpPr>
          <p:nvPr>
            <p:ph/>
          </p:nvPr>
        </p:nvSpPr>
        <p:spPr>
          <a:xfrm>
            <a:off x="5001768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8" name=""/>
          <p:cNvSpPr>
            <a:spLocks noGrp="1"/>
          </p:cNvSpPr>
          <p:nvPr>
            <p:ph/>
          </p:nvPr>
        </p:nvSpPr>
        <p:spPr>
          <a:xfrm>
            <a:off x="5038344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6288</a:t>
            </a:r>
          </a:p>
        </p:txBody>
      </p:sp>
      <p:sp>
        <p:nvSpPr>
          <p:cNvPr id="49" name=""/>
          <p:cNvSpPr>
            <a:spLocks noGrp="1"/>
          </p:cNvSpPr>
          <p:nvPr>
            <p:ph/>
          </p:nvPr>
        </p:nvSpPr>
        <p:spPr>
          <a:xfrm>
            <a:off x="6711696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" name=""/>
          <p:cNvSpPr>
            <a:spLocks noGrp="1"/>
          </p:cNvSpPr>
          <p:nvPr>
            <p:ph/>
          </p:nvPr>
        </p:nvSpPr>
        <p:spPr>
          <a:xfrm>
            <a:off x="6748272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8696</a:t>
            </a:r>
          </a:p>
        </p:txBody>
      </p:sp>
      <p:sp>
        <p:nvSpPr>
          <p:cNvPr id="51" name=""/>
          <p:cNvSpPr>
            <a:spLocks noGrp="1"/>
          </p:cNvSpPr>
          <p:nvPr>
            <p:ph/>
          </p:nvPr>
        </p:nvSpPr>
        <p:spPr>
          <a:xfrm>
            <a:off x="8421624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2" name=""/>
          <p:cNvSpPr>
            <a:spLocks noGrp="1"/>
          </p:cNvSpPr>
          <p:nvPr>
            <p:ph/>
          </p:nvPr>
        </p:nvSpPr>
        <p:spPr>
          <a:xfrm>
            <a:off x="8458200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11781</a:t>
            </a:r>
          </a:p>
        </p:txBody>
      </p:sp>
      <p:sp>
        <p:nvSpPr>
          <p:cNvPr id="53" name=""/>
          <p:cNvSpPr>
            <a:spLocks noGrp="1"/>
          </p:cNvSpPr>
          <p:nvPr>
            <p:ph/>
          </p:nvPr>
        </p:nvSpPr>
        <p:spPr>
          <a:xfrm>
            <a:off x="10131552" y="3749040"/>
            <a:ext cx="1709928" cy="521208"/>
          </a:xfrm>
          <a:solidFill>
            <a:srgbClr val="2A2A1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4" name=""/>
          <p:cNvSpPr>
            <a:spLocks noGrp="1"/>
          </p:cNvSpPr>
          <p:nvPr>
            <p:ph/>
          </p:nvPr>
        </p:nvSpPr>
        <p:spPr>
          <a:xfrm>
            <a:off x="10168128" y="3840480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15291</a:t>
            </a:r>
          </a:p>
        </p:txBody>
      </p:sp>
      <p:sp>
        <p:nvSpPr>
          <p:cNvPr id="55" name=""/>
          <p:cNvSpPr>
            <a:spLocks noGrp="1"/>
          </p:cNvSpPr>
          <p:nvPr>
            <p:ph/>
          </p:nvPr>
        </p:nvSpPr>
        <p:spPr>
          <a:xfrm>
            <a:off x="365760" y="4315968"/>
            <a:ext cx="1216152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6" name=""/>
          <p:cNvSpPr>
            <a:spLocks noGrp="1"/>
          </p:cNvSpPr>
          <p:nvPr>
            <p:ph/>
          </p:nvPr>
        </p:nvSpPr>
        <p:spPr>
          <a:xfrm>
            <a:off x="402336" y="4407408"/>
            <a:ext cx="1143000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25D</a:t>
            </a:r>
          </a:p>
        </p:txBody>
      </p:sp>
      <p:sp>
        <p:nvSpPr>
          <p:cNvPr id="57" name=""/>
          <p:cNvSpPr>
            <a:spLocks noGrp="1"/>
          </p:cNvSpPr>
          <p:nvPr>
            <p:ph/>
          </p:nvPr>
        </p:nvSpPr>
        <p:spPr>
          <a:xfrm>
            <a:off x="1581912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8" name=""/>
          <p:cNvSpPr>
            <a:spLocks noGrp="1"/>
          </p:cNvSpPr>
          <p:nvPr>
            <p:ph/>
          </p:nvPr>
        </p:nvSpPr>
        <p:spPr>
          <a:xfrm>
            <a:off x="1618488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3313</a:t>
            </a:r>
          </a:p>
        </p:txBody>
      </p:sp>
      <p:sp>
        <p:nvSpPr>
          <p:cNvPr id="59" name=""/>
          <p:cNvSpPr>
            <a:spLocks noGrp="1"/>
          </p:cNvSpPr>
          <p:nvPr>
            <p:ph/>
          </p:nvPr>
        </p:nvSpPr>
        <p:spPr>
          <a:xfrm>
            <a:off x="3291840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0" name=""/>
          <p:cNvSpPr>
            <a:spLocks noGrp="1"/>
          </p:cNvSpPr>
          <p:nvPr>
            <p:ph/>
          </p:nvPr>
        </p:nvSpPr>
        <p:spPr>
          <a:xfrm>
            <a:off x="3328416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4490</a:t>
            </a:r>
          </a:p>
        </p:txBody>
      </p:sp>
      <p:sp>
        <p:nvSpPr>
          <p:cNvPr id="61" name=""/>
          <p:cNvSpPr>
            <a:spLocks noGrp="1"/>
          </p:cNvSpPr>
          <p:nvPr>
            <p:ph/>
          </p:nvPr>
        </p:nvSpPr>
        <p:spPr>
          <a:xfrm>
            <a:off x="5001768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2" name=""/>
          <p:cNvSpPr>
            <a:spLocks noGrp="1"/>
          </p:cNvSpPr>
          <p:nvPr>
            <p:ph/>
          </p:nvPr>
        </p:nvSpPr>
        <p:spPr>
          <a:xfrm>
            <a:off x="5038344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6331</a:t>
            </a:r>
          </a:p>
        </p:txBody>
      </p:sp>
      <p:sp>
        <p:nvSpPr>
          <p:cNvPr id="63" name=""/>
          <p:cNvSpPr>
            <a:spLocks noGrp="1"/>
          </p:cNvSpPr>
          <p:nvPr>
            <p:ph/>
          </p:nvPr>
        </p:nvSpPr>
        <p:spPr>
          <a:xfrm>
            <a:off x="6711696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4" name=""/>
          <p:cNvSpPr>
            <a:spLocks noGrp="1"/>
          </p:cNvSpPr>
          <p:nvPr>
            <p:ph/>
          </p:nvPr>
        </p:nvSpPr>
        <p:spPr>
          <a:xfrm>
            <a:off x="6748272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8686</a:t>
            </a:r>
          </a:p>
        </p:txBody>
      </p:sp>
      <p:sp>
        <p:nvSpPr>
          <p:cNvPr id="65" name=""/>
          <p:cNvSpPr>
            <a:spLocks noGrp="1"/>
          </p:cNvSpPr>
          <p:nvPr>
            <p:ph/>
          </p:nvPr>
        </p:nvSpPr>
        <p:spPr>
          <a:xfrm>
            <a:off x="8421624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6" name=""/>
          <p:cNvSpPr>
            <a:spLocks noGrp="1"/>
          </p:cNvSpPr>
          <p:nvPr>
            <p:ph/>
          </p:nvPr>
        </p:nvSpPr>
        <p:spPr>
          <a:xfrm>
            <a:off x="8458200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11726</a:t>
            </a:r>
          </a:p>
        </p:txBody>
      </p:sp>
      <p:sp>
        <p:nvSpPr>
          <p:cNvPr id="67" name=""/>
          <p:cNvSpPr>
            <a:spLocks noGrp="1"/>
          </p:cNvSpPr>
          <p:nvPr>
            <p:ph/>
          </p:nvPr>
        </p:nvSpPr>
        <p:spPr>
          <a:xfrm>
            <a:off x="10131552" y="4315968"/>
            <a:ext cx="1709928" cy="521208"/>
          </a:xfrm>
          <a:solidFill>
            <a:srgbClr val="1A2A3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8" name=""/>
          <p:cNvSpPr>
            <a:spLocks noGrp="1"/>
          </p:cNvSpPr>
          <p:nvPr>
            <p:ph/>
          </p:nvPr>
        </p:nvSpPr>
        <p:spPr>
          <a:xfrm>
            <a:off x="10168128" y="4407408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15207</a:t>
            </a:r>
          </a:p>
        </p:txBody>
      </p:sp>
      <p:sp>
        <p:nvSpPr>
          <p:cNvPr id="69" name=""/>
          <p:cNvSpPr>
            <a:spLocks noGrp="1"/>
          </p:cNvSpPr>
          <p:nvPr>
            <p:ph/>
          </p:nvPr>
        </p:nvSpPr>
        <p:spPr>
          <a:xfrm>
            <a:off x="365760" y="4882896"/>
            <a:ext cx="1216152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" name=""/>
          <p:cNvSpPr>
            <a:spLocks noGrp="1"/>
          </p:cNvSpPr>
          <p:nvPr>
            <p:ph/>
          </p:nvPr>
        </p:nvSpPr>
        <p:spPr>
          <a:xfrm>
            <a:off x="402336" y="4974336"/>
            <a:ext cx="1143000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100D</a:t>
            </a:r>
          </a:p>
        </p:txBody>
      </p:sp>
      <p:sp>
        <p:nvSpPr>
          <p:cNvPr id="71" name=""/>
          <p:cNvSpPr>
            <a:spLocks noGrp="1"/>
          </p:cNvSpPr>
          <p:nvPr>
            <p:ph/>
          </p:nvPr>
        </p:nvSpPr>
        <p:spPr>
          <a:xfrm>
            <a:off x="1581912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2" name=""/>
          <p:cNvSpPr>
            <a:spLocks noGrp="1"/>
          </p:cNvSpPr>
          <p:nvPr>
            <p:ph/>
          </p:nvPr>
        </p:nvSpPr>
        <p:spPr>
          <a:xfrm>
            <a:off x="1618488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3433</a:t>
            </a:r>
          </a:p>
        </p:txBody>
      </p:sp>
      <p:sp>
        <p:nvSpPr>
          <p:cNvPr id="73" name=""/>
          <p:cNvSpPr>
            <a:spLocks noGrp="1"/>
          </p:cNvSpPr>
          <p:nvPr>
            <p:ph/>
          </p:nvPr>
        </p:nvSpPr>
        <p:spPr>
          <a:xfrm>
            <a:off x="3291840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4" name=""/>
          <p:cNvSpPr>
            <a:spLocks noGrp="1"/>
          </p:cNvSpPr>
          <p:nvPr>
            <p:ph/>
          </p:nvPr>
        </p:nvSpPr>
        <p:spPr>
          <a:xfrm>
            <a:off x="3328416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4650</a:t>
            </a:r>
          </a:p>
        </p:txBody>
      </p:sp>
      <p:sp>
        <p:nvSpPr>
          <p:cNvPr id="75" name=""/>
          <p:cNvSpPr>
            <a:spLocks noGrp="1"/>
          </p:cNvSpPr>
          <p:nvPr>
            <p:ph/>
          </p:nvPr>
        </p:nvSpPr>
        <p:spPr>
          <a:xfrm>
            <a:off x="5001768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" name=""/>
          <p:cNvSpPr>
            <a:spLocks noGrp="1"/>
          </p:cNvSpPr>
          <p:nvPr>
            <p:ph/>
          </p:nvPr>
        </p:nvSpPr>
        <p:spPr>
          <a:xfrm>
            <a:off x="5038344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6471</a:t>
            </a:r>
          </a:p>
        </p:txBody>
      </p:sp>
      <p:sp>
        <p:nvSpPr>
          <p:cNvPr id="77" name=""/>
          <p:cNvSpPr>
            <a:spLocks noGrp="1"/>
          </p:cNvSpPr>
          <p:nvPr>
            <p:ph/>
          </p:nvPr>
        </p:nvSpPr>
        <p:spPr>
          <a:xfrm>
            <a:off x="6711696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" name=""/>
          <p:cNvSpPr>
            <a:spLocks noGrp="1"/>
          </p:cNvSpPr>
          <p:nvPr>
            <p:ph/>
          </p:nvPr>
        </p:nvSpPr>
        <p:spPr>
          <a:xfrm>
            <a:off x="6748272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8704</a:t>
            </a:r>
          </a:p>
        </p:txBody>
      </p:sp>
      <p:sp>
        <p:nvSpPr>
          <p:cNvPr id="79" name=""/>
          <p:cNvSpPr>
            <a:spLocks noGrp="1"/>
          </p:cNvSpPr>
          <p:nvPr>
            <p:ph/>
          </p:nvPr>
        </p:nvSpPr>
        <p:spPr>
          <a:xfrm>
            <a:off x="8421624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0" name=""/>
          <p:cNvSpPr>
            <a:spLocks noGrp="1"/>
          </p:cNvSpPr>
          <p:nvPr>
            <p:ph/>
          </p:nvPr>
        </p:nvSpPr>
        <p:spPr>
          <a:xfrm>
            <a:off x="8458200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11788</a:t>
            </a:r>
          </a:p>
        </p:txBody>
      </p:sp>
      <p:sp>
        <p:nvSpPr>
          <p:cNvPr id="81" name=""/>
          <p:cNvSpPr>
            <a:spLocks noGrp="1"/>
          </p:cNvSpPr>
          <p:nvPr>
            <p:ph/>
          </p:nvPr>
        </p:nvSpPr>
        <p:spPr>
          <a:xfrm>
            <a:off x="10131552" y="4882896"/>
            <a:ext cx="1709928" cy="521208"/>
          </a:xfrm>
          <a:solidFill>
            <a:srgbClr val="1A3A2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"/>
          <p:cNvSpPr>
            <a:spLocks noGrp="1"/>
          </p:cNvSpPr>
          <p:nvPr>
            <p:ph/>
          </p:nvPr>
        </p:nvSpPr>
        <p:spPr>
          <a:xfrm>
            <a:off x="10168128" y="4974336"/>
            <a:ext cx="1636776" cy="347472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15228</a:t>
            </a:r>
          </a:p>
        </p:txBody>
      </p:sp>
      <p:sp>
        <p:nvSpPr>
          <p:cNvPr id="83" name=""/>
          <p:cNvSpPr>
            <a:spLocks noGrp="1"/>
          </p:cNvSpPr>
          <p:nvPr>
            <p:ph/>
          </p:nvPr>
        </p:nvSpPr>
        <p:spPr>
          <a:xfrm>
            <a:off x="301752" y="5486400"/>
            <a:ext cx="11585448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1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R$ bilhões — variação acumulada vs. 2018 · diretos + indiretos via multiplicador Leontief</a:t>
            </a:r>
          </a:p>
        </p:txBody>
      </p:sp>
      <p:sp>
        <p:nvSpPr>
          <p:cNvPr id="84" name=""/>
          <p:cNvSpPr>
            <a:spLocks noGrp="1"/>
          </p:cNvSpPr>
          <p:nvPr>
            <p:ph/>
          </p:nvPr>
        </p:nvSpPr>
        <p:spPr>
          <a:xfrm>
            <a:off x="301752" y="5852160"/>
            <a:ext cx="11585448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Decomposição: GDP scaling (Base)  +  Investimento (E1b)  +  Eficiência energética (E2)  +  Produção física (E3)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Dashboard Interativo — Exploração de Cenários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65760" y="914400"/>
            <a:ext cx="11457432" cy="502920"/>
          </a:xfrm>
          <a:solidFill>
            <a:srgbClr val="0D2A1E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365760" y="978408"/>
            <a:ext cx="11457432" cy="36576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cludovique.github.io/brazil-climate-macro-model/mma_scenarios_dashboard.html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46888" y="1508760"/>
            <a:ext cx="2258568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65760" y="1554480"/>
            <a:ext cx="2011680" cy="54864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310896" y="1627632"/>
            <a:ext cx="2130552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1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310896" y="1938528"/>
            <a:ext cx="2130552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Produção Total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393192" y="2468880"/>
            <a:ext cx="201168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Trajetória R$ tri: Base vs 25D vs 100D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KPIs nível absoluto + prêmio ± %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Toggle R$ tri ou % vs 2018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Decomp. por grupo setorial (GRP7)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2624328" y="1508760"/>
            <a:ext cx="2258568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2743200" y="1554480"/>
            <a:ext cx="2011680" cy="54864"/>
          </a:xfrm>
          <a:solidFill>
            <a:srgbClr val="378ADD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2688336" y="1627632"/>
            <a:ext cx="2130552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2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2688336" y="1938528"/>
            <a:ext cx="2130552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PIB e Emprego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2770632" y="2468880"/>
            <a:ext cx="201168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VA (PIB) total e prêmio de transição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Emprego: base + 100D + prêmio dir./ind.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Nível empregos setores de energia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Decomposição por fonte de choque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5001768" y="1508760"/>
            <a:ext cx="2258568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5120640" y="1554480"/>
            <a:ext cx="2011680" cy="54864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5065776" y="1627632"/>
            <a:ext cx="2130552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3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5065776" y="1938528"/>
            <a:ext cx="2130552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Análise Setorial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5148072" y="2468880"/>
            <a:ext cx="201168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Top 15 setores por ΔProdução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Tabela 73 setores filtrável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Linkages: BL/FL antes e após 100D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Coef. técnicos A* por setor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7379208" y="1508760"/>
            <a:ext cx="2258568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7498080" y="1554480"/>
            <a:ext cx="2011680" cy="54864"/>
          </a:xfrm>
          <a:solidFill>
            <a:srgbClr val="3DC494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7443216" y="1627632"/>
            <a:ext cx="2130552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4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7443216" y="1938528"/>
            <a:ext cx="2130552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Mix Energético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7525512" y="2468880"/>
            <a:ext cx="201168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Trajetória % elec/bio/fóssil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Por sub-setor MMA (Ferro, Cimento…)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Coef. A* base vs cenário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ALPHA: impacto ktep por fonte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9756648" y="1508760"/>
            <a:ext cx="2258568" cy="498348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9875520" y="1554480"/>
            <a:ext cx="2011680" cy="54864"/>
          </a:xfrm>
          <a:solidFill>
            <a:srgbClr val="8A9BB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9" name=""/>
          <p:cNvSpPr>
            <a:spLocks noGrp="1"/>
          </p:cNvSpPr>
          <p:nvPr>
            <p:ph/>
          </p:nvPr>
        </p:nvSpPr>
        <p:spPr>
          <a:xfrm>
            <a:off x="9820656" y="1627632"/>
            <a:ext cx="2130552" cy="292608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Tab 5</a:t>
            </a:r>
          </a:p>
        </p:txBody>
      </p:sp>
      <p:sp>
        <p:nvSpPr>
          <p:cNvPr id="30" name=""/>
          <p:cNvSpPr>
            <a:spLocks noGrp="1"/>
          </p:cNvSpPr>
          <p:nvPr>
            <p:ph/>
          </p:nvPr>
        </p:nvSpPr>
        <p:spPr>
          <a:xfrm>
            <a:off x="9820656" y="1938528"/>
            <a:ext cx="2130552" cy="457200"/>
          </a:xfr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Premissas &amp; Dados</a:t>
            </a:r>
          </a:p>
        </p:txBody>
      </p:sp>
      <p:sp>
        <p:nvSpPr>
          <p:cNvPr id="31" name=""/>
          <p:cNvSpPr>
            <a:spLocks noGrp="1"/>
          </p:cNvSpPr>
          <p:nvPr>
            <p:ph/>
          </p:nvPr>
        </p:nvSpPr>
        <p:spPr>
          <a:xfrm>
            <a:off x="9902952" y="2468880"/>
            <a:ext cx="2011680" cy="3840480"/>
          </a:xfrm>
        </p:spPr>
        <p:txBody>
          <a:bodyPr/>
          <a:lstStyle/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Produção física por produto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Decomposição demanda final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Multiplicadores Type I/II</a:t>
            </a:r>
          </a:p>
          <a:p>
            <a:pPr algn="l" marL="8890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• Mapeamento setorial e premissas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0" y="0"/>
            <a:ext cx="12192000" cy="822960"/>
          </a:xfrm>
          <a:solidFill>
            <a:srgbClr val="F39C12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457200" y="91440"/>
            <a:ext cx="1127760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Agenda de Pesquisa &amp; Colaboração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246888" y="914400"/>
            <a:ext cx="5733288" cy="57150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493776" y="987552"/>
            <a:ext cx="5239512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39C12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Lacunas do Modelo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548640" y="150876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Calibração ALOC_INV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548640" y="181051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Pesos de FBCF são premissas manuais. Precisam ser derivados do detalhamento por tema/tecnologia do Plano MMA (eólica, solar, VEs, biocombustíveis) e mapeados para códigos IO.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548640" y="251460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Coeficiente A[S22, S43]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8640" y="281635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Aumento de insumos de biomassa na produção de biometano não implementado. Requer coef. técnico (ktep biomassa / PJ biometano). Fonte: EPE BEN ou ANP.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548640" y="352044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Engine 4 — Satélite de Emissões</a:t>
            </a:r>
          </a:p>
        </p:txBody>
      </p:sp>
      <p:sp>
        <p:nvSpPr>
          <p:cNvPr id="12" name=""/>
          <p:cNvSpPr>
            <a:spLocks noGrp="1"/>
          </p:cNvSpPr>
          <p:nvPr>
            <p:ph/>
          </p:nvPr>
        </p:nvSpPr>
        <p:spPr>
          <a:xfrm>
            <a:off x="548640" y="382219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Conta satélite de MtCO₂e por setor está desativada. Requer coef. de intensidade de carbono por fonte × setor, calibrados com inventário SEEG/MCTI.</a:t>
            </a:r>
          </a:p>
        </p:txBody>
      </p:sp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548640" y="452628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Componente residencial (Cidades)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548640" y="482803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Uso energético domiciliar é demanda final (famílias), não insumo intermediário. Modelagem correta requer choque no vetor f (coluna Famílias).</a:t>
            </a:r>
          </a:p>
        </p:txBody>
      </p:sp>
      <p:sp>
        <p:nvSpPr>
          <p:cNvPr id="15" name=""/>
          <p:cNvSpPr>
            <a:spLocks noGrp="1"/>
          </p:cNvSpPr>
          <p:nvPr>
            <p:ph/>
          </p:nvPr>
        </p:nvSpPr>
        <p:spPr>
          <a:xfrm>
            <a:off x="548640" y="553212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Validação com EPE BEN</a:t>
            </a:r>
          </a:p>
        </p:txBody>
      </p:sp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548640" y="583387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Coef. ALPHA construídos com dados EPE 2018. Recomenda-se confronto com série histórica BEN/BEU setorial para confirmar consistência.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6217920" y="914400"/>
            <a:ext cx="5733288" cy="5715000"/>
          </a:xfrm>
          <a:solidFill>
            <a:srgbClr val="1A2840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8" name=""/>
          <p:cNvSpPr>
            <a:spLocks noGrp="1"/>
          </p:cNvSpPr>
          <p:nvPr>
            <p:ph/>
          </p:nvPr>
        </p:nvSpPr>
        <p:spPr>
          <a:xfrm>
            <a:off x="6464808" y="987552"/>
            <a:ext cx="5239512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Como Colaborar</a:t>
            </a:r>
          </a:p>
        </p:txBody>
      </p:sp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6519672" y="150876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Dados EPE BEN setoriais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6519672" y="181051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Série histórica de consumo energético por setor e por fonte, para calibrar e validar a matriz ALPHA de intensidade energética.</a:t>
            </a:r>
          </a:p>
        </p:txBody>
      </p:sp>
      <p:sp>
        <p:nvSpPr>
          <p:cNvPr id="21" name=""/>
          <p:cNvSpPr>
            <a:spLocks noGrp="1"/>
          </p:cNvSpPr>
          <p:nvPr>
            <p:ph/>
          </p:nvPr>
        </p:nvSpPr>
        <p:spPr>
          <a:xfrm>
            <a:off x="6519672" y="251460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Coeficientes de processo industrial</a:t>
            </a:r>
          </a:p>
        </p:txBody>
      </p:sp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6519672" y="281635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Coef. técnicos de entrada de biomassa/H₂ para siderurgia e cimento (EPE, IPT, IABR, SNIC) para Engine 2 desagregado.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6519672" y="352044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Confronto com BLUES / MAED-BR</a:t>
            </a:r>
          </a:p>
        </p:txBody>
      </p:sp>
      <p:sp>
        <p:nvSpPr>
          <p:cNvPr id="24" name=""/>
          <p:cNvSpPr>
            <a:spLocks noGrp="1"/>
          </p:cNvSpPr>
          <p:nvPr>
            <p:ph/>
          </p:nvPr>
        </p:nvSpPr>
        <p:spPr>
          <a:xfrm>
            <a:off x="6519672" y="382219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Validação cruzada das trajetórias de mix setorial com resultados BLUES/EPE para checar coerência dos scale factors do Engine 2.</a:t>
            </a:r>
          </a:p>
        </p:txBody>
      </p:sp>
      <p:sp>
        <p:nvSpPr>
          <p:cNvPr id="25" name=""/>
          <p:cNvSpPr>
            <a:spLocks noGrp="1"/>
          </p:cNvSpPr>
          <p:nvPr>
            <p:ph/>
          </p:nvPr>
        </p:nvSpPr>
        <p:spPr>
          <a:xfrm>
            <a:off x="6519672" y="452628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Extensão: LULUCF e Agropecuária</a:t>
            </a:r>
          </a:p>
        </p:txBody>
      </p:sp>
      <p:sp>
        <p:nvSpPr>
          <p:cNvPr id="26" name=""/>
          <p:cNvSpPr>
            <a:spLocks noGrp="1"/>
          </p:cNvSpPr>
          <p:nvPr>
            <p:ph/>
          </p:nvPr>
        </p:nvSpPr>
        <p:spPr>
          <a:xfrm>
            <a:off x="6519672" y="482803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Modelos biofísicos de uso da terra → choques IO em S01-S09 com dados de área e produtividade do Plano MMA.</a:t>
            </a:r>
          </a:p>
        </p:txBody>
      </p:sp>
      <p:sp>
        <p:nvSpPr>
          <p:cNvPr id="27" name=""/>
          <p:cNvSpPr>
            <a:spLocks noGrp="1"/>
          </p:cNvSpPr>
          <p:nvPr>
            <p:ph/>
          </p:nvPr>
        </p:nvSpPr>
        <p:spPr>
          <a:xfrm>
            <a:off x="6519672" y="5532120"/>
            <a:ext cx="5120640" cy="3200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Análise de sensibilidade</a:t>
            </a:r>
          </a:p>
        </p:txBody>
      </p:sp>
      <p:sp>
        <p:nvSpPr>
          <p:cNvPr id="28" name=""/>
          <p:cNvSpPr>
            <a:spLocks noGrp="1"/>
          </p:cNvSpPr>
          <p:nvPr>
            <p:ph/>
          </p:nvPr>
        </p:nvSpPr>
        <p:spPr>
          <a:xfrm>
            <a:off x="6519672" y="5833872"/>
            <a:ext cx="5120640" cy="6400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0" u="none" strike="noStrike">
                <a:solidFill>
                  <a:srgbClr val="E8ECF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Sensibilidade dos prêmios de PIB e emprego às premissas de ALOC_INV, taxas de crescimento e trajetórias de mix (análise paramétrica).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0" y="0"/>
            <a:ext cx="12192000" cy="6858000"/>
          </a:xfrm>
          <a:solidFill>
            <a:srgbClr val="1C2B4A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29768" y="1828800"/>
            <a:ext cx="64008" cy="3200400"/>
          </a:xfrm>
          <a:solidFill>
            <a:srgbClr val="1D9E75">
              <a:alpha val="10000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4" name=""/>
          <p:cNvSpPr>
            <a:spLocks noGrp="1"/>
          </p:cNvSpPr>
          <p:nvPr>
            <p:ph/>
          </p:nvPr>
        </p:nvSpPr>
        <p:spPr>
          <a:xfrm>
            <a:off x="850392" y="1920240"/>
            <a:ext cx="10972800" cy="91440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000" i="0" b="1" u="none" strike="noStrike">
                <a:solidFill>
                  <a:srgbClr val="1D9E75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Obrigada!</a:t>
            </a:r>
          </a:p>
        </p:txBody>
      </p:sp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850392" y="2926080"/>
            <a:ext cx="10515600" cy="54864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FFFFFF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Código aberto — comentários, críticas e contribuições são bem-vindos.</a:t>
            </a:r>
          </a:p>
        </p:txBody>
      </p:sp>
      <p:sp>
        <p:nvSpPr>
          <p:cNvPr id="6" name=""/>
          <p:cNvSpPr>
            <a:spLocks noGrp="1"/>
          </p:cNvSpPr>
          <p:nvPr>
            <p:ph/>
          </p:nvPr>
        </p:nvSpPr>
        <p:spPr>
          <a:xfrm>
            <a:off x="850392" y="3611880"/>
            <a:ext cx="35387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🔗 GitHub (código e dados):</a:t>
            </a:r>
          </a:p>
        </p:txBody>
      </p:sp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4636008" y="3611880"/>
            <a:ext cx="71963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github.com/cludovique/brazil-climate-macro-model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850392" y="4251960"/>
            <a:ext cx="35387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🌐 Dashboard interativo:</a:t>
            </a:r>
          </a:p>
        </p:txBody>
      </p:sp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36008" y="4251960"/>
            <a:ext cx="71963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cludovique.github.io/brazil-climate-macro-model/</a:t>
            </a:r>
          </a:p>
        </p:txBody>
      </p:sp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850392" y="4892040"/>
            <a:ext cx="35387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8A9BB0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📊 Cenários MMA: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4636008" y="4892040"/>
            <a:ext cx="7196328" cy="411480"/>
          </a:xfr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3DC494">
                    <a:alpha val="100000"/>
                  </a:srgbClr>
                </a:solidFill>
                <a:latin typeface="Calibri"/>
                <a:cs typeface="Calibri"/>
                <a:ea typeface="Calibri"/>
                <a:sym typeface="Calibri"/>
              </a:rPr>
              <a:t>MMA-SMC v3 AR5 (07/10/2024)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2026-06-02T09:47:37Z</dcterms:modified>
  <cp:category/>
</cp:coreProperties>
</file>