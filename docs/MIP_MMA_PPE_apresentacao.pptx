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0040" y="1417320"/>
            <a:ext cx="73152" cy="3931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914400" y="1463040"/>
            <a:ext cx="8229600" cy="10058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MIP × MMA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914400" y="2514600"/>
            <a:ext cx="7772400" cy="1371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600" i="0" b="0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Avaliando os Impactos Macroeconômicos
da Transição Energética Brasileira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914400" y="3977640"/>
            <a:ext cx="822960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Modelo de Insumo-Produto EPE/FIPE (73 setores)  ×  Cenários MMA-SMC v3 AR5 (2024)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914400" y="5852160"/>
            <a:ext cx="457200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Reunião Técnica PPE  ·  Junho 2025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572000" y="5852160"/>
            <a:ext cx="4297680" cy="365760"/>
          </a:xfrm>
        </p:spPr>
        <p:txBody>
          <a:bodyPr/>
          <a:lstStyle/>
          <a:p>
            <a:pPr algn="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cludovique.github.io/brazil-climate-macro-model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Por que este modelo?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182880" y="960120"/>
            <a:ext cx="2880360" cy="5212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292608" y="1024128"/>
            <a:ext cx="2651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20040" y="111556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 Brasil tem metas ambiciosas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0040" y="1664208"/>
            <a:ext cx="2651760" cy="42976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Cenário 100D (MMA-SMC v3): descarbonização total até 2050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Setores: Energia, Indústria, Transporte, Cidades, Agropecuária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Plano de R$1+ tri em investimentos de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Mas: quais são os impactos econômicos setoriais?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3172968" y="960120"/>
            <a:ext cx="2880360" cy="5212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3282696" y="1024128"/>
            <a:ext cx="2651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310128" y="111556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lacuna analítica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3310128" y="1664208"/>
            <a:ext cx="2651760" cy="42976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Cenários MMA expressos em unidades físicas (TWh, Mt, kbep)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Não há tradução automática para R$, empregos, PIB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Multiplicadores setoriais variam 2×–12× entre setores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Decisões de política precisam de números econômicos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6163056" y="960120"/>
            <a:ext cx="2880360" cy="5212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6272784" y="1024128"/>
            <a:ext cx="2651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6300216" y="111556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 ponte: MIP × MMA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6300216" y="1664208"/>
            <a:ext cx="2651760" cy="42976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MIP-EPE 2018: modelo Leontief de 73 setores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3 engines: Demanda Final, Coef. Técnicos, Produção Física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Mapeia targets físicos → ΔProdução, ΔPIB, ΔEmprego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Dashboard interativo para exploração de cenários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274320" y="6309360"/>
            <a:ext cx="859536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Abordagem macroeconômica setorial, compatível com BLUES/EPE e metodologia IPCC AR5.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Arquitetura do Modelo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137160" y="987552"/>
            <a:ext cx="237744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ENTRADAS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2743200" y="987552"/>
            <a:ext cx="393192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ENGINES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6858000" y="987552"/>
            <a:ext cx="201168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MODELO IO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6949440" y="987552"/>
            <a:ext cx="201168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RESULTADOS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137160" y="1371600"/>
            <a:ext cx="2377440" cy="20116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3F6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137160" y="1463040"/>
            <a:ext cx="2377440" cy="5943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Cenários MMA-SMC
v3 AR5 (2024)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182880" y="2103120"/>
            <a:ext cx="2286000" cy="118872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Mix energético 2025–2050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Volumes físicos (TWh, Mt)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Investimentos (bi USD)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GHG por setor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137160" y="3566160"/>
            <a:ext cx="2377440" cy="20116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3F6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137160" y="3657600"/>
            <a:ext cx="2377440" cy="5943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MIP-EPE 2018
73 Setores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182880" y="4251960"/>
            <a:ext cx="2286000" cy="123444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Matriz A (coef. técnicos)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Leontief L = (I-A)⁻¹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Satélites: VA, Empregos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ALPHA: ktep / R$M (6 fontes)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542032" y="2148840"/>
            <a:ext cx="27432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→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2542032" y="3566160"/>
            <a:ext cx="27432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→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2743200" y="1371600"/>
            <a:ext cx="3931920" cy="12344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5C4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2880360" y="1444752"/>
            <a:ext cx="374904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1: Demanda Final (Δf)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2880360" y="1920240"/>
            <a:ext cx="3749040" cy="59436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1a: Escala do PIB (gdp_idx × f_base)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1b: Investimento de transição (ALOC_INV)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2743200" y="2788920"/>
            <a:ext cx="3931920" cy="12344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4A7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2880360" y="2862072"/>
            <a:ext cx="374904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2: Coef. Técnicos (ΔA)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2880360" y="3337560"/>
            <a:ext cx="3749040" cy="59436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BLUES-style: sc = share_novo / share_base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6 grupos: Indústria, Transporte, Cidades, Geração…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2743200" y="4206240"/>
            <a:ext cx="3931920" cy="12344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6B4C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2880360" y="4279392"/>
            <a:ext cx="374904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3: Produção Física (Δx)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2880360" y="4754880"/>
            <a:ext cx="3749040" cy="59436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Volumes MMA → calibração R$ setorial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Petróleo, Elétrica, Biocomb., Siderurgia…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6675120" y="3108960"/>
            <a:ext cx="27432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→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6949440" y="1371600"/>
            <a:ext cx="2011680" cy="46634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5038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6949440" y="1463040"/>
            <a:ext cx="201168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RESULTADOS</a:t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6995160" y="1920240"/>
            <a:ext cx="192024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Produção (R$ tri)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PIB / VA (R$ bi)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Empregos (mi)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Δ Renda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Prêmio da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Mix energético A*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Multiplicadores L*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GHG induzido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Base: MIP-EPE 2018 (73 setores)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1005840"/>
            <a:ext cx="2103120" cy="1508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38328" y="1143000"/>
            <a:ext cx="64008" cy="11887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502920" y="114300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R$ 10,7 tri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502920" y="166420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Produção Total Bruta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502920" y="201168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VBP a preços básicos · 2018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2514600" y="1005840"/>
            <a:ext cx="2103120" cy="1508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2578608" y="1143000"/>
            <a:ext cx="64008" cy="11887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2743200" y="114300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R$ 6,0 tri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2743200" y="166420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Valor Adicionado (PIB)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743200" y="201168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 a preços básicos · 2018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74320" y="2743200"/>
            <a:ext cx="2103120" cy="1508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338328" y="2880360"/>
            <a:ext cx="64008" cy="11887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502920" y="288036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104,3 mi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502920" y="340156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Postos de Trabalho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502920" y="374904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Ocupações formais + informais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2514600" y="2743200"/>
            <a:ext cx="2103120" cy="1508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2578608" y="2880360"/>
            <a:ext cx="64008" cy="11887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2743200" y="2880360"/>
            <a:ext cx="182880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000" i="0" b="1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73 setores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2743200" y="3401568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Setores da Economia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2743200" y="3749040"/>
            <a:ext cx="182880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Classificação EPE/FIPE · IBGE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4800600" y="1005840"/>
            <a:ext cx="4160520" cy="5394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4983480" y="1097280"/>
            <a:ext cx="3840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Satélite Energético — Matriz ALPHA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4983480" y="150876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ktep por R$ Milhão de produção  ×  73 setores  ×  6 fontes</a:t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5001768" y="1920240"/>
            <a:ext cx="64008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5166360" y="1920240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Derivados de Petróleo</a:t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5166360" y="2194560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Transporte, Refino</a:t>
            </a:r>
          </a:p>
        </p:txBody>
      </p:sp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5001768" y="2624328"/>
            <a:ext cx="64008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0A0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2" name=""/>
          <p:cNvSpPr>
            <a:spLocks noGrp="1"/>
          </p:cNvSpPr>
          <p:nvPr>
            <p:ph/>
          </p:nvPr>
        </p:nvSpPr>
        <p:spPr>
          <a:xfrm>
            <a:off x="5166360" y="2624328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Gás Natural</a:t>
            </a:r>
          </a:p>
        </p:txBody>
      </p:sp>
      <p:sp>
        <p:nvSpPr>
          <p:cNvPr id="33" name=""/>
          <p:cNvSpPr>
            <a:spLocks noGrp="1"/>
          </p:cNvSpPr>
          <p:nvPr>
            <p:ph/>
          </p:nvPr>
        </p:nvSpPr>
        <p:spPr>
          <a:xfrm>
            <a:off x="5166360" y="2898648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Indústria pesada, edificações</a:t>
            </a:r>
          </a:p>
        </p:txBody>
      </p:sp>
      <p:sp>
        <p:nvSpPr>
          <p:cNvPr id="34" name=""/>
          <p:cNvSpPr>
            <a:spLocks noGrp="1"/>
          </p:cNvSpPr>
          <p:nvPr>
            <p:ph/>
          </p:nvPr>
        </p:nvSpPr>
        <p:spPr>
          <a:xfrm>
            <a:off x="5001768" y="3328416"/>
            <a:ext cx="64008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5" name=""/>
          <p:cNvSpPr>
            <a:spLocks noGrp="1"/>
          </p:cNvSpPr>
          <p:nvPr>
            <p:ph/>
          </p:nvPr>
        </p:nvSpPr>
        <p:spPr>
          <a:xfrm>
            <a:off x="5166360" y="3328416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Biodiesel / HVO</a:t>
            </a:r>
          </a:p>
        </p:txBody>
      </p:sp>
      <p:sp>
        <p:nvSpPr>
          <p:cNvPr id="36" name=""/>
          <p:cNvSpPr>
            <a:spLocks noGrp="1"/>
          </p:cNvSpPr>
          <p:nvPr>
            <p:ph/>
          </p:nvPr>
        </p:nvSpPr>
        <p:spPr>
          <a:xfrm>
            <a:off x="5166360" y="3602736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Transporte rodoviário pesado</a:t>
            </a:r>
          </a:p>
        </p:txBody>
      </p:sp>
      <p:sp>
        <p:nvSpPr>
          <p:cNvPr id="37" name=""/>
          <p:cNvSpPr>
            <a:spLocks noGrp="1"/>
          </p:cNvSpPr>
          <p:nvPr>
            <p:ph/>
          </p:nvPr>
        </p:nvSpPr>
        <p:spPr>
          <a:xfrm>
            <a:off x="5001768" y="4032504"/>
            <a:ext cx="64008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8" name=""/>
          <p:cNvSpPr>
            <a:spLocks noGrp="1"/>
          </p:cNvSpPr>
          <p:nvPr>
            <p:ph/>
          </p:nvPr>
        </p:nvSpPr>
        <p:spPr>
          <a:xfrm>
            <a:off x="5166360" y="4032504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Etanol / Biocombustíveis</a:t>
            </a:r>
          </a:p>
        </p:txBody>
      </p:sp>
      <p:sp>
        <p:nvSpPr>
          <p:cNvPr id="39" name=""/>
          <p:cNvSpPr>
            <a:spLocks noGrp="1"/>
          </p:cNvSpPr>
          <p:nvPr>
            <p:ph/>
          </p:nvPr>
        </p:nvSpPr>
        <p:spPr>
          <a:xfrm>
            <a:off x="5166360" y="4306824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Flex, aviação, naval</a:t>
            </a:r>
          </a:p>
        </p:txBody>
      </p:sp>
      <p:sp>
        <p:nvSpPr>
          <p:cNvPr id="40" name=""/>
          <p:cNvSpPr>
            <a:spLocks noGrp="1"/>
          </p:cNvSpPr>
          <p:nvPr>
            <p:ph/>
          </p:nvPr>
        </p:nvSpPr>
        <p:spPr>
          <a:xfrm>
            <a:off x="5001768" y="4736592"/>
            <a:ext cx="64008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1" name=""/>
          <p:cNvSpPr>
            <a:spLocks noGrp="1"/>
          </p:cNvSpPr>
          <p:nvPr>
            <p:ph/>
          </p:nvPr>
        </p:nvSpPr>
        <p:spPr>
          <a:xfrm>
            <a:off x="5166360" y="4736592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EE Centralizada</a:t>
            </a:r>
          </a:p>
        </p:txBody>
      </p:sp>
      <p:sp>
        <p:nvSpPr>
          <p:cNvPr id="42" name=""/>
          <p:cNvSpPr>
            <a:spLocks noGrp="1"/>
          </p:cNvSpPr>
          <p:nvPr>
            <p:ph/>
          </p:nvPr>
        </p:nvSpPr>
        <p:spPr>
          <a:xfrm>
            <a:off x="5166360" y="5010912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Geração S40, distribuidoras</a:t>
            </a:r>
          </a:p>
        </p:txBody>
      </p:sp>
      <p:sp>
        <p:nvSpPr>
          <p:cNvPr id="43" name=""/>
          <p:cNvSpPr>
            <a:spLocks noGrp="1"/>
          </p:cNvSpPr>
          <p:nvPr>
            <p:ph/>
          </p:nvPr>
        </p:nvSpPr>
        <p:spPr>
          <a:xfrm>
            <a:off x="5001768" y="5440680"/>
            <a:ext cx="64008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6AADF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4" name=""/>
          <p:cNvSpPr>
            <a:spLocks noGrp="1"/>
          </p:cNvSpPr>
          <p:nvPr>
            <p:ph/>
          </p:nvPr>
        </p:nvSpPr>
        <p:spPr>
          <a:xfrm>
            <a:off x="5166360" y="5440680"/>
            <a:ext cx="23774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EE Distribuída</a:t>
            </a:r>
          </a:p>
        </p:txBody>
      </p:sp>
      <p:sp>
        <p:nvSpPr>
          <p:cNvPr id="45" name=""/>
          <p:cNvSpPr>
            <a:spLocks noGrp="1"/>
          </p:cNvSpPr>
          <p:nvPr>
            <p:ph/>
          </p:nvPr>
        </p:nvSpPr>
        <p:spPr>
          <a:xfrm>
            <a:off x="5166360" y="5715000"/>
            <a:ext cx="2377440" cy="25603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Solar FV, micro-hidro (S41)</a:t>
            </a:r>
          </a:p>
        </p:txBody>
      </p:sp>
      <p:sp>
        <p:nvSpPr>
          <p:cNvPr id="46" name=""/>
          <p:cNvSpPr>
            <a:spLocks noGrp="1"/>
          </p:cNvSpPr>
          <p:nvPr>
            <p:ph/>
          </p:nvPr>
        </p:nvSpPr>
        <p:spPr>
          <a:xfrm>
            <a:off x="4983480" y="6126480"/>
            <a:ext cx="374904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1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Uso: ALPHA × Δx = variação no consumo de energia por fonte (ktep)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1  —  Demanda Final (Δf)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182880" y="1005840"/>
            <a:ext cx="4160520" cy="5303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65760" y="1097280"/>
            <a:ext cx="384048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1a  •  Escala do PIB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65760" y="1645920"/>
            <a:ext cx="3840480" cy="438912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Fonte: Planilha PIB_Pop do MMA (índice por ano)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Δf_PIB = f_base × (gdp_idx × 0,97 − 1)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Escala todos os componentes da demanda final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CAGR implícito: ~2,4% a.a. (2018–2050)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Setores calibrados por Engine 3 recebem Δf=0 para evitar dupla contagem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ENGINE3: S05 (petróleo), S19 (refino), S40 (geração), S42 (transmissão)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617720" y="1005840"/>
            <a:ext cx="4343400" cy="53035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800600" y="1097280"/>
            <a:ext cx="40233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1b  •  Investimento de Transição (FBCF)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4800600" y="1645920"/>
            <a:ext cx="4023360" cy="320040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Fonte: Custos MMA — Custo Anual Equivalente (CAE)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Conversão: bi USD2023 → R$2018 (fator 2,92 = câmbio/CPI)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100D: ~R$762 bi/ano em investimentos de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Adicionado como FBCF (formação bruta de capital fixo) setorial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ALOC_INV: pesos manuais por setor IO — premissa a calibrar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▸  Maiores receptores: geração elétrica, construção, biocombustíveis, veículos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4800600" y="4937760"/>
            <a:ext cx="402336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Principais setores receptores de FBCF: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4800600" y="5285232"/>
            <a:ext cx="4023360" cy="100584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S40 Geração elétrica: 15%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S44/S45 Construção: 16%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S22 Biocombustíveis: 8%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S27 Plásticos/borracha: 8%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S36+S37 Veículos: 12%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2  —  Substituição Energética (ΔA)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914400"/>
            <a:ext cx="82296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sc_combustível = share_cenário(t) / share_base(2020)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457200" y="1325880"/>
            <a:ext cx="822960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1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A*(j,t) = A(j) × sc    →    L*(t) = (I − A*)⁻¹    →    Δx = L* × Δf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137160" y="1874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228600" y="1938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246888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Ferro e Aço (S29)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246888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Combustível fóssil → eletricidade + H₂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246888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61,9% | Bio 29% | Elec 9,1%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2395728" y="1874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2487168" y="1938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505456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Cimento (S28)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505456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Calcário + biomassa substituem coque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2505456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67,4% | Bio 18,3% | Elec 14,4%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4654296" y="1874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4745736" y="1938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4764024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Químico (S24-26)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4764024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Nafta → bioquímicos / eletroquímica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4764024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66,6% | Bio 2,3% | Elec 31,2%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6912864" y="1874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7004304" y="1938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7022592" y="2039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Outros Indústria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7022592" y="2532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25 setores manufatureiros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7022592" y="3200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Foss 30,7% | Bio 26,1% | Elec 43,3%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137160" y="4160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228600" y="4224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246888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Transporte (S48-52)</a:t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246888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Eletrificação + biocombustíveis (BLUES)</a:t>
            </a:r>
          </a:p>
        </p:txBody>
      </p:sp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246888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Elec 0,36%→1,4×%| Bio 30,3%→?</a:t>
            </a:r>
          </a:p>
        </p:txBody>
      </p:sp>
      <p:sp>
        <p:nvSpPr>
          <p:cNvPr id="32" name=""/>
          <p:cNvSpPr>
            <a:spLocks noGrp="1"/>
          </p:cNvSpPr>
          <p:nvPr>
            <p:ph/>
          </p:nvPr>
        </p:nvSpPr>
        <p:spPr>
          <a:xfrm>
            <a:off x="2395728" y="4160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3" name=""/>
          <p:cNvSpPr>
            <a:spLocks noGrp="1"/>
          </p:cNvSpPr>
          <p:nvPr>
            <p:ph/>
          </p:nvPr>
        </p:nvSpPr>
        <p:spPr>
          <a:xfrm>
            <a:off x="2487168" y="4224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4" name=""/>
          <p:cNvSpPr>
            <a:spLocks noGrp="1"/>
          </p:cNvSpPr>
          <p:nvPr>
            <p:ph/>
          </p:nvPr>
        </p:nvSpPr>
        <p:spPr>
          <a:xfrm>
            <a:off x="2505456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Cidades/Edifícios</a:t>
            </a:r>
          </a:p>
        </p:txBody>
      </p:sp>
      <p:sp>
        <p:nvSpPr>
          <p:cNvPr id="35" name=""/>
          <p:cNvSpPr>
            <a:spLocks noGrp="1"/>
          </p:cNvSpPr>
          <p:nvPr>
            <p:ph/>
          </p:nvPr>
        </p:nvSpPr>
        <p:spPr>
          <a:xfrm>
            <a:off x="2505456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S52/53/59/66-70: hotéis, imóveis, saúde, educação</a:t>
            </a:r>
          </a:p>
        </p:txBody>
      </p:sp>
      <p:sp>
        <p:nvSpPr>
          <p:cNvPr id="36" name=""/>
          <p:cNvSpPr>
            <a:spLocks noGrp="1"/>
          </p:cNvSpPr>
          <p:nvPr>
            <p:ph/>
          </p:nvPr>
        </p:nvSpPr>
        <p:spPr>
          <a:xfrm>
            <a:off x="2505456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Elec 62,5%→~95% | Gás 26%→5%</a:t>
            </a:r>
          </a:p>
        </p:txBody>
      </p:sp>
      <p:sp>
        <p:nvSpPr>
          <p:cNvPr id="37" name=""/>
          <p:cNvSpPr>
            <a:spLocks noGrp="1"/>
          </p:cNvSpPr>
          <p:nvPr>
            <p:ph/>
          </p:nvPr>
        </p:nvSpPr>
        <p:spPr>
          <a:xfrm>
            <a:off x="4654296" y="4160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8" name=""/>
          <p:cNvSpPr>
            <a:spLocks noGrp="1"/>
          </p:cNvSpPr>
          <p:nvPr>
            <p:ph/>
          </p:nvPr>
        </p:nvSpPr>
        <p:spPr>
          <a:xfrm>
            <a:off x="4745736" y="4224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9" name=""/>
          <p:cNvSpPr>
            <a:spLocks noGrp="1"/>
          </p:cNvSpPr>
          <p:nvPr>
            <p:ph/>
          </p:nvPr>
        </p:nvSpPr>
        <p:spPr>
          <a:xfrm>
            <a:off x="4764024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Geração Elétrica (S40)</a:t>
            </a:r>
          </a:p>
        </p:txBody>
      </p:sp>
      <p:sp>
        <p:nvSpPr>
          <p:cNvPr id="40" name=""/>
          <p:cNvSpPr>
            <a:spLocks noGrp="1"/>
          </p:cNvSpPr>
          <p:nvPr>
            <p:ph/>
          </p:nvPr>
        </p:nvSpPr>
        <p:spPr>
          <a:xfrm>
            <a:off x="4764024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Fóssil 14,6%→0,7% (normalize=FALSE)</a:t>
            </a:r>
          </a:p>
        </p:txBody>
      </p:sp>
      <p:sp>
        <p:nvSpPr>
          <p:cNvPr id="41" name=""/>
          <p:cNvSpPr>
            <a:spLocks noGrp="1"/>
          </p:cNvSpPr>
          <p:nvPr>
            <p:ph/>
          </p:nvPr>
        </p:nvSpPr>
        <p:spPr>
          <a:xfrm>
            <a:off x="4764024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Bio 9,3%→12,6% | Elec: sc=1</a:t>
            </a:r>
          </a:p>
        </p:txBody>
      </p:sp>
      <p:sp>
        <p:nvSpPr>
          <p:cNvPr id="42" name=""/>
          <p:cNvSpPr>
            <a:spLocks noGrp="1"/>
          </p:cNvSpPr>
          <p:nvPr>
            <p:ph/>
          </p:nvPr>
        </p:nvSpPr>
        <p:spPr>
          <a:xfrm>
            <a:off x="6912864" y="4160520"/>
            <a:ext cx="2148840" cy="2057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3" name=""/>
          <p:cNvSpPr>
            <a:spLocks noGrp="1"/>
          </p:cNvSpPr>
          <p:nvPr>
            <p:ph/>
          </p:nvPr>
        </p:nvSpPr>
        <p:spPr>
          <a:xfrm>
            <a:off x="7004304" y="4224528"/>
            <a:ext cx="19659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4" name=""/>
          <p:cNvSpPr>
            <a:spLocks noGrp="1"/>
          </p:cNvSpPr>
          <p:nvPr>
            <p:ph/>
          </p:nvPr>
        </p:nvSpPr>
        <p:spPr>
          <a:xfrm>
            <a:off x="7022592" y="4325112"/>
            <a:ext cx="1965960" cy="4572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Refino / Gás (S19/43)</a:t>
            </a:r>
          </a:p>
        </p:txBody>
      </p:sp>
      <p:sp>
        <p:nvSpPr>
          <p:cNvPr id="45" name=""/>
          <p:cNvSpPr>
            <a:spLocks noGrp="1"/>
          </p:cNvSpPr>
          <p:nvPr>
            <p:ph/>
          </p:nvPr>
        </p:nvSpPr>
        <p:spPr>
          <a:xfrm>
            <a:off x="7022592" y="4818888"/>
            <a:ext cx="19659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Indicador coprocessamento + biometano</a:t>
            </a:r>
          </a:p>
        </p:txBody>
      </p:sp>
      <p:sp>
        <p:nvSpPr>
          <p:cNvPr id="46" name=""/>
          <p:cNvSpPr>
            <a:spLocks noGrp="1"/>
          </p:cNvSpPr>
          <p:nvPr>
            <p:ph/>
          </p:nvPr>
        </p:nvSpPr>
        <p:spPr>
          <a:xfrm>
            <a:off x="7022592" y="5486400"/>
            <a:ext cx="19659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S43: 0→~780 PJ biometano em 2050</a:t>
            </a:r>
          </a:p>
        </p:txBody>
      </p:sp>
      <p:sp>
        <p:nvSpPr>
          <p:cNvPr id="47" name=""/>
          <p:cNvSpPr>
            <a:spLocks noGrp="1"/>
          </p:cNvSpPr>
          <p:nvPr>
            <p:ph/>
          </p:nvPr>
        </p:nvSpPr>
        <p:spPr>
          <a:xfrm>
            <a:off x="182880" y="6492240"/>
            <a:ext cx="877824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normalize=TRUE: preserva intensidade energética total (transporte, indústria)    |    normalize=FALSE: permite redução genuína (geração elétrica -95% fóssil)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3  —  Calibração por Volume Físico (Δx)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914400"/>
            <a:ext cx="868680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Para setores energéticos-chave, a produção é ancorada em metas físicas do MMA — não apenas escala PIB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182880" y="1508760"/>
            <a:ext cx="2834640" cy="21945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20040" y="161848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S05 — Petróleo bruto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20040" y="216712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R37: produção kbep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320040" y="280720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Pico 2030, declínio 58% até 2050 (plano MMA)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3172968" y="1508760"/>
            <a:ext cx="2834640" cy="21945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310128" y="161848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S19 — Refino / Derivados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3310128" y="216712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R40+R41: derivados doméstico + exportação (ktep)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3310128" y="280720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Permanece +6% mesmo com queda do cru (coprocessamento biomassa)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6163056" y="1508760"/>
            <a:ext cx="2834640" cy="21945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6300216" y="161848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S40/S42 — Geração e Transmissão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6300216" y="216712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R49: geração total TWh (base 2020 = 679 TWh)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6300216" y="280720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Transmissão proporcional à geração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182880" y="3886200"/>
            <a:ext cx="2834640" cy="21945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320040" y="399592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S22 — Biocombustíveis Avançados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20040" y="454456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Etanol+CCS + Gasolina Verde + BioQAV + Bunker Verde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320040" y="518464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Base 1020 PJ + incremento de cenário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3172968" y="3886200"/>
            <a:ext cx="2834640" cy="21945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3310128" y="399592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S20 — Biodiesel / HVO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3310128" y="454456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R78: Diesel Verde (PJ) + base 230 PJ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3310128" y="518464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Substitui diesel mineral em frotas pesadas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6163056" y="3886200"/>
            <a:ext cx="2834640" cy="21945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6300216" y="3995928"/>
            <a:ext cx="26517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S29/S28 — Siderurgia / Cimento</a:t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6300216" y="4544568"/>
            <a:ext cx="2651760" cy="5943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 R27 aço (Mt) + R41 clinker (Mt)</a:t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6300216" y="5184648"/>
            <a:ext cx="265176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5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Razão vs 2020 × VBP setorial 2018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Resultados — Prêmio da Transição 100D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868680"/>
            <a:ext cx="8595360" cy="3657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1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= efeito líquido da política 100D vs. crescimento de base (PIB sem transição)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137160" y="1325880"/>
            <a:ext cx="1691640" cy="1463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182880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R$ 13.6 tri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182880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PIB — Nível 100D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182880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Valor Adicionado Total 2050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1938528" y="1325880"/>
            <a:ext cx="1691640" cy="1463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1984248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+R$ 0.67 tri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1984248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PIB 2050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1984248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100D vs. Linha de Base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3739896" y="1325880"/>
            <a:ext cx="1691640" cy="1463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3785616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235.5 mi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3785616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Empregos — Nível 100D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3785616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Total postos trabalho 2050</a:t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5541264" y="1325880"/>
            <a:ext cx="1691640" cy="1463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5586984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+8.87 mi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5586984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Empregos 2050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5586984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Empregos líquidos transição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7342632" y="1325880"/>
            <a:ext cx="1691640" cy="1463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7388352" y="1389888"/>
            <a:ext cx="1600200" cy="50292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1" u="none" strike="noStrike">
                <a:solidFill>
                  <a:srgbClr val="F0A05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+9.09 mi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7388352" y="1911096"/>
            <a:ext cx="1600200" cy="3200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Prêmio Empregos 2030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7388352" y="2231136"/>
            <a:ext cx="1600200" cy="41148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8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Horizonte intermediário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274320" y="2971800"/>
            <a:ext cx="8595360" cy="38404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Trajetória por Cenário — Variação de Produção (ΔR$ bi vs. 2018)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228600" y="3383280"/>
            <a:ext cx="1005840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256032" y="3410712"/>
            <a:ext cx="950976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Cenário</a:t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1234440" y="3383280"/>
            <a:ext cx="1353312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1261872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2025</a:t>
            </a:r>
          </a:p>
        </p:txBody>
      </p:sp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2587752" y="3383280"/>
            <a:ext cx="1353312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2" name=""/>
          <p:cNvSpPr>
            <a:spLocks noGrp="1"/>
          </p:cNvSpPr>
          <p:nvPr>
            <p:ph/>
          </p:nvPr>
        </p:nvSpPr>
        <p:spPr>
          <a:xfrm>
            <a:off x="2615184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2030</a:t>
            </a:r>
          </a:p>
        </p:txBody>
      </p:sp>
      <p:sp>
        <p:nvSpPr>
          <p:cNvPr id="33" name=""/>
          <p:cNvSpPr>
            <a:spLocks noGrp="1"/>
          </p:cNvSpPr>
          <p:nvPr>
            <p:ph/>
          </p:nvPr>
        </p:nvSpPr>
        <p:spPr>
          <a:xfrm>
            <a:off x="3941064" y="3383280"/>
            <a:ext cx="1353312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4" name=""/>
          <p:cNvSpPr>
            <a:spLocks noGrp="1"/>
          </p:cNvSpPr>
          <p:nvPr>
            <p:ph/>
          </p:nvPr>
        </p:nvSpPr>
        <p:spPr>
          <a:xfrm>
            <a:off x="3968496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2035</a:t>
            </a:r>
          </a:p>
        </p:txBody>
      </p:sp>
      <p:sp>
        <p:nvSpPr>
          <p:cNvPr id="35" name=""/>
          <p:cNvSpPr>
            <a:spLocks noGrp="1"/>
          </p:cNvSpPr>
          <p:nvPr>
            <p:ph/>
          </p:nvPr>
        </p:nvSpPr>
        <p:spPr>
          <a:xfrm>
            <a:off x="5294376" y="3383280"/>
            <a:ext cx="1353312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6" name=""/>
          <p:cNvSpPr>
            <a:spLocks noGrp="1"/>
          </p:cNvSpPr>
          <p:nvPr>
            <p:ph/>
          </p:nvPr>
        </p:nvSpPr>
        <p:spPr>
          <a:xfrm>
            <a:off x="5321808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2040</a:t>
            </a:r>
          </a:p>
        </p:txBody>
      </p:sp>
      <p:sp>
        <p:nvSpPr>
          <p:cNvPr id="37" name=""/>
          <p:cNvSpPr>
            <a:spLocks noGrp="1"/>
          </p:cNvSpPr>
          <p:nvPr>
            <p:ph/>
          </p:nvPr>
        </p:nvSpPr>
        <p:spPr>
          <a:xfrm>
            <a:off x="6647688" y="3383280"/>
            <a:ext cx="1353312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8" name=""/>
          <p:cNvSpPr>
            <a:spLocks noGrp="1"/>
          </p:cNvSpPr>
          <p:nvPr>
            <p:ph/>
          </p:nvPr>
        </p:nvSpPr>
        <p:spPr>
          <a:xfrm>
            <a:off x="6675120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2045</a:t>
            </a:r>
          </a:p>
        </p:txBody>
      </p:sp>
      <p:sp>
        <p:nvSpPr>
          <p:cNvPr id="39" name=""/>
          <p:cNvSpPr>
            <a:spLocks noGrp="1"/>
          </p:cNvSpPr>
          <p:nvPr>
            <p:ph/>
          </p:nvPr>
        </p:nvSpPr>
        <p:spPr>
          <a:xfrm>
            <a:off x="8001000" y="3383280"/>
            <a:ext cx="1353312" cy="347472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1F3C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0" name=""/>
          <p:cNvSpPr>
            <a:spLocks noGrp="1"/>
          </p:cNvSpPr>
          <p:nvPr>
            <p:ph/>
          </p:nvPr>
        </p:nvSpPr>
        <p:spPr>
          <a:xfrm>
            <a:off x="8028432" y="3410712"/>
            <a:ext cx="1298448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2050</a:t>
            </a:r>
          </a:p>
        </p:txBody>
      </p:sp>
      <p:sp>
        <p:nvSpPr>
          <p:cNvPr id="41" name=""/>
          <p:cNvSpPr>
            <a:spLocks noGrp="1"/>
          </p:cNvSpPr>
          <p:nvPr>
            <p:ph/>
          </p:nvPr>
        </p:nvSpPr>
        <p:spPr>
          <a:xfrm>
            <a:off x="228600" y="3749040"/>
            <a:ext cx="1005840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2" name=""/>
          <p:cNvSpPr>
            <a:spLocks noGrp="1"/>
          </p:cNvSpPr>
          <p:nvPr>
            <p:ph/>
          </p:nvPr>
        </p:nvSpPr>
        <p:spPr>
          <a:xfrm>
            <a:off x="256032" y="3840480"/>
            <a:ext cx="950976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0D</a:t>
            </a:r>
          </a:p>
        </p:txBody>
      </p:sp>
      <p:sp>
        <p:nvSpPr>
          <p:cNvPr id="43" name=""/>
          <p:cNvSpPr>
            <a:spLocks noGrp="1"/>
          </p:cNvSpPr>
          <p:nvPr>
            <p:ph/>
          </p:nvPr>
        </p:nvSpPr>
        <p:spPr>
          <a:xfrm>
            <a:off x="1234440" y="3749040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4" name=""/>
          <p:cNvSpPr>
            <a:spLocks noGrp="1"/>
          </p:cNvSpPr>
          <p:nvPr>
            <p:ph/>
          </p:nvPr>
        </p:nvSpPr>
        <p:spPr>
          <a:xfrm>
            <a:off x="1261872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3222</a:t>
            </a:r>
          </a:p>
        </p:txBody>
      </p:sp>
      <p:sp>
        <p:nvSpPr>
          <p:cNvPr id="45" name=""/>
          <p:cNvSpPr>
            <a:spLocks noGrp="1"/>
          </p:cNvSpPr>
          <p:nvPr>
            <p:ph/>
          </p:nvPr>
        </p:nvSpPr>
        <p:spPr>
          <a:xfrm>
            <a:off x="2587752" y="3749040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6" name=""/>
          <p:cNvSpPr>
            <a:spLocks noGrp="1"/>
          </p:cNvSpPr>
          <p:nvPr>
            <p:ph/>
          </p:nvPr>
        </p:nvSpPr>
        <p:spPr>
          <a:xfrm>
            <a:off x="2615184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4414</a:t>
            </a:r>
          </a:p>
        </p:txBody>
      </p:sp>
      <p:sp>
        <p:nvSpPr>
          <p:cNvPr id="47" name=""/>
          <p:cNvSpPr>
            <a:spLocks noGrp="1"/>
          </p:cNvSpPr>
          <p:nvPr>
            <p:ph/>
          </p:nvPr>
        </p:nvSpPr>
        <p:spPr>
          <a:xfrm>
            <a:off x="3941064" y="3749040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8" name=""/>
          <p:cNvSpPr>
            <a:spLocks noGrp="1"/>
          </p:cNvSpPr>
          <p:nvPr>
            <p:ph/>
          </p:nvPr>
        </p:nvSpPr>
        <p:spPr>
          <a:xfrm>
            <a:off x="3968496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6288</a:t>
            </a:r>
          </a:p>
        </p:txBody>
      </p:sp>
      <p:sp>
        <p:nvSpPr>
          <p:cNvPr id="49" name=""/>
          <p:cNvSpPr>
            <a:spLocks noGrp="1"/>
          </p:cNvSpPr>
          <p:nvPr>
            <p:ph/>
          </p:nvPr>
        </p:nvSpPr>
        <p:spPr>
          <a:xfrm>
            <a:off x="5294376" y="3749040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50" name=""/>
          <p:cNvSpPr>
            <a:spLocks noGrp="1"/>
          </p:cNvSpPr>
          <p:nvPr>
            <p:ph/>
          </p:nvPr>
        </p:nvSpPr>
        <p:spPr>
          <a:xfrm>
            <a:off x="5321808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8696</a:t>
            </a:r>
          </a:p>
        </p:txBody>
      </p:sp>
      <p:sp>
        <p:nvSpPr>
          <p:cNvPr id="51" name=""/>
          <p:cNvSpPr>
            <a:spLocks noGrp="1"/>
          </p:cNvSpPr>
          <p:nvPr>
            <p:ph/>
          </p:nvPr>
        </p:nvSpPr>
        <p:spPr>
          <a:xfrm>
            <a:off x="6647688" y="3749040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52" name=""/>
          <p:cNvSpPr>
            <a:spLocks noGrp="1"/>
          </p:cNvSpPr>
          <p:nvPr>
            <p:ph/>
          </p:nvPr>
        </p:nvSpPr>
        <p:spPr>
          <a:xfrm>
            <a:off x="6675120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11781</a:t>
            </a:r>
          </a:p>
        </p:txBody>
      </p:sp>
      <p:sp>
        <p:nvSpPr>
          <p:cNvPr id="53" name=""/>
          <p:cNvSpPr>
            <a:spLocks noGrp="1"/>
          </p:cNvSpPr>
          <p:nvPr>
            <p:ph/>
          </p:nvPr>
        </p:nvSpPr>
        <p:spPr>
          <a:xfrm>
            <a:off x="8001000" y="3749040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2A2A1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54" name=""/>
          <p:cNvSpPr>
            <a:spLocks noGrp="1"/>
          </p:cNvSpPr>
          <p:nvPr>
            <p:ph/>
          </p:nvPr>
        </p:nvSpPr>
        <p:spPr>
          <a:xfrm>
            <a:off x="8028432" y="3840480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15291</a:t>
            </a:r>
          </a:p>
        </p:txBody>
      </p:sp>
      <p:sp>
        <p:nvSpPr>
          <p:cNvPr id="55" name=""/>
          <p:cNvSpPr>
            <a:spLocks noGrp="1"/>
          </p:cNvSpPr>
          <p:nvPr>
            <p:ph/>
          </p:nvPr>
        </p:nvSpPr>
        <p:spPr>
          <a:xfrm>
            <a:off x="228600" y="4315968"/>
            <a:ext cx="1005840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56" name=""/>
          <p:cNvSpPr>
            <a:spLocks noGrp="1"/>
          </p:cNvSpPr>
          <p:nvPr>
            <p:ph/>
          </p:nvPr>
        </p:nvSpPr>
        <p:spPr>
          <a:xfrm>
            <a:off x="256032" y="4407408"/>
            <a:ext cx="950976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25D</a:t>
            </a:r>
          </a:p>
        </p:txBody>
      </p:sp>
      <p:sp>
        <p:nvSpPr>
          <p:cNvPr id="57" name=""/>
          <p:cNvSpPr>
            <a:spLocks noGrp="1"/>
          </p:cNvSpPr>
          <p:nvPr>
            <p:ph/>
          </p:nvPr>
        </p:nvSpPr>
        <p:spPr>
          <a:xfrm>
            <a:off x="1234440" y="4315968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58" name=""/>
          <p:cNvSpPr>
            <a:spLocks noGrp="1"/>
          </p:cNvSpPr>
          <p:nvPr>
            <p:ph/>
          </p:nvPr>
        </p:nvSpPr>
        <p:spPr>
          <a:xfrm>
            <a:off x="1261872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3313</a:t>
            </a:r>
          </a:p>
        </p:txBody>
      </p:sp>
      <p:sp>
        <p:nvSpPr>
          <p:cNvPr id="59" name=""/>
          <p:cNvSpPr>
            <a:spLocks noGrp="1"/>
          </p:cNvSpPr>
          <p:nvPr>
            <p:ph/>
          </p:nvPr>
        </p:nvSpPr>
        <p:spPr>
          <a:xfrm>
            <a:off x="2587752" y="4315968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0" name=""/>
          <p:cNvSpPr>
            <a:spLocks noGrp="1"/>
          </p:cNvSpPr>
          <p:nvPr>
            <p:ph/>
          </p:nvPr>
        </p:nvSpPr>
        <p:spPr>
          <a:xfrm>
            <a:off x="2615184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4490</a:t>
            </a:r>
          </a:p>
        </p:txBody>
      </p:sp>
      <p:sp>
        <p:nvSpPr>
          <p:cNvPr id="61" name=""/>
          <p:cNvSpPr>
            <a:spLocks noGrp="1"/>
          </p:cNvSpPr>
          <p:nvPr>
            <p:ph/>
          </p:nvPr>
        </p:nvSpPr>
        <p:spPr>
          <a:xfrm>
            <a:off x="3941064" y="4315968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2" name=""/>
          <p:cNvSpPr>
            <a:spLocks noGrp="1"/>
          </p:cNvSpPr>
          <p:nvPr>
            <p:ph/>
          </p:nvPr>
        </p:nvSpPr>
        <p:spPr>
          <a:xfrm>
            <a:off x="3968496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6331</a:t>
            </a:r>
          </a:p>
        </p:txBody>
      </p:sp>
      <p:sp>
        <p:nvSpPr>
          <p:cNvPr id="63" name=""/>
          <p:cNvSpPr>
            <a:spLocks noGrp="1"/>
          </p:cNvSpPr>
          <p:nvPr>
            <p:ph/>
          </p:nvPr>
        </p:nvSpPr>
        <p:spPr>
          <a:xfrm>
            <a:off x="5294376" y="4315968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4" name=""/>
          <p:cNvSpPr>
            <a:spLocks noGrp="1"/>
          </p:cNvSpPr>
          <p:nvPr>
            <p:ph/>
          </p:nvPr>
        </p:nvSpPr>
        <p:spPr>
          <a:xfrm>
            <a:off x="5321808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8686</a:t>
            </a:r>
          </a:p>
        </p:txBody>
      </p:sp>
      <p:sp>
        <p:nvSpPr>
          <p:cNvPr id="65" name=""/>
          <p:cNvSpPr>
            <a:spLocks noGrp="1"/>
          </p:cNvSpPr>
          <p:nvPr>
            <p:ph/>
          </p:nvPr>
        </p:nvSpPr>
        <p:spPr>
          <a:xfrm>
            <a:off x="6647688" y="4315968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6" name=""/>
          <p:cNvSpPr>
            <a:spLocks noGrp="1"/>
          </p:cNvSpPr>
          <p:nvPr>
            <p:ph/>
          </p:nvPr>
        </p:nvSpPr>
        <p:spPr>
          <a:xfrm>
            <a:off x="6675120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11726</a:t>
            </a:r>
          </a:p>
        </p:txBody>
      </p:sp>
      <p:sp>
        <p:nvSpPr>
          <p:cNvPr id="67" name=""/>
          <p:cNvSpPr>
            <a:spLocks noGrp="1"/>
          </p:cNvSpPr>
          <p:nvPr>
            <p:ph/>
          </p:nvPr>
        </p:nvSpPr>
        <p:spPr>
          <a:xfrm>
            <a:off x="8001000" y="4315968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A3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8" name=""/>
          <p:cNvSpPr>
            <a:spLocks noGrp="1"/>
          </p:cNvSpPr>
          <p:nvPr>
            <p:ph/>
          </p:nvPr>
        </p:nvSpPr>
        <p:spPr>
          <a:xfrm>
            <a:off x="8028432" y="4407408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15207</a:t>
            </a:r>
          </a:p>
        </p:txBody>
      </p:sp>
      <p:sp>
        <p:nvSpPr>
          <p:cNvPr id="69" name=""/>
          <p:cNvSpPr>
            <a:spLocks noGrp="1"/>
          </p:cNvSpPr>
          <p:nvPr>
            <p:ph/>
          </p:nvPr>
        </p:nvSpPr>
        <p:spPr>
          <a:xfrm>
            <a:off x="228600" y="4882896"/>
            <a:ext cx="1005840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0" name=""/>
          <p:cNvSpPr>
            <a:spLocks noGrp="1"/>
          </p:cNvSpPr>
          <p:nvPr>
            <p:ph/>
          </p:nvPr>
        </p:nvSpPr>
        <p:spPr>
          <a:xfrm>
            <a:off x="256032" y="4974336"/>
            <a:ext cx="950976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100D</a:t>
            </a:r>
          </a:p>
        </p:txBody>
      </p:sp>
      <p:sp>
        <p:nvSpPr>
          <p:cNvPr id="71" name=""/>
          <p:cNvSpPr>
            <a:spLocks noGrp="1"/>
          </p:cNvSpPr>
          <p:nvPr>
            <p:ph/>
          </p:nvPr>
        </p:nvSpPr>
        <p:spPr>
          <a:xfrm>
            <a:off x="1234440" y="4882896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2" name=""/>
          <p:cNvSpPr>
            <a:spLocks noGrp="1"/>
          </p:cNvSpPr>
          <p:nvPr>
            <p:ph/>
          </p:nvPr>
        </p:nvSpPr>
        <p:spPr>
          <a:xfrm>
            <a:off x="1261872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3433</a:t>
            </a:r>
          </a:p>
        </p:txBody>
      </p:sp>
      <p:sp>
        <p:nvSpPr>
          <p:cNvPr id="73" name=""/>
          <p:cNvSpPr>
            <a:spLocks noGrp="1"/>
          </p:cNvSpPr>
          <p:nvPr>
            <p:ph/>
          </p:nvPr>
        </p:nvSpPr>
        <p:spPr>
          <a:xfrm>
            <a:off x="2587752" y="4882896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4" name=""/>
          <p:cNvSpPr>
            <a:spLocks noGrp="1"/>
          </p:cNvSpPr>
          <p:nvPr>
            <p:ph/>
          </p:nvPr>
        </p:nvSpPr>
        <p:spPr>
          <a:xfrm>
            <a:off x="2615184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4650</a:t>
            </a:r>
          </a:p>
        </p:txBody>
      </p:sp>
      <p:sp>
        <p:nvSpPr>
          <p:cNvPr id="75" name=""/>
          <p:cNvSpPr>
            <a:spLocks noGrp="1"/>
          </p:cNvSpPr>
          <p:nvPr>
            <p:ph/>
          </p:nvPr>
        </p:nvSpPr>
        <p:spPr>
          <a:xfrm>
            <a:off x="3941064" y="4882896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6" name=""/>
          <p:cNvSpPr>
            <a:spLocks noGrp="1"/>
          </p:cNvSpPr>
          <p:nvPr>
            <p:ph/>
          </p:nvPr>
        </p:nvSpPr>
        <p:spPr>
          <a:xfrm>
            <a:off x="3968496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6471</a:t>
            </a:r>
          </a:p>
        </p:txBody>
      </p:sp>
      <p:sp>
        <p:nvSpPr>
          <p:cNvPr id="77" name=""/>
          <p:cNvSpPr>
            <a:spLocks noGrp="1"/>
          </p:cNvSpPr>
          <p:nvPr>
            <p:ph/>
          </p:nvPr>
        </p:nvSpPr>
        <p:spPr>
          <a:xfrm>
            <a:off x="5294376" y="4882896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78" name=""/>
          <p:cNvSpPr>
            <a:spLocks noGrp="1"/>
          </p:cNvSpPr>
          <p:nvPr>
            <p:ph/>
          </p:nvPr>
        </p:nvSpPr>
        <p:spPr>
          <a:xfrm>
            <a:off x="5321808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8704</a:t>
            </a:r>
          </a:p>
        </p:txBody>
      </p:sp>
      <p:sp>
        <p:nvSpPr>
          <p:cNvPr id="79" name=""/>
          <p:cNvSpPr>
            <a:spLocks noGrp="1"/>
          </p:cNvSpPr>
          <p:nvPr>
            <p:ph/>
          </p:nvPr>
        </p:nvSpPr>
        <p:spPr>
          <a:xfrm>
            <a:off x="6647688" y="4882896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80" name=""/>
          <p:cNvSpPr>
            <a:spLocks noGrp="1"/>
          </p:cNvSpPr>
          <p:nvPr>
            <p:ph/>
          </p:nvPr>
        </p:nvSpPr>
        <p:spPr>
          <a:xfrm>
            <a:off x="6675120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11788</a:t>
            </a:r>
          </a:p>
        </p:txBody>
      </p:sp>
      <p:sp>
        <p:nvSpPr>
          <p:cNvPr id="81" name=""/>
          <p:cNvSpPr>
            <a:spLocks noGrp="1"/>
          </p:cNvSpPr>
          <p:nvPr>
            <p:ph/>
          </p:nvPr>
        </p:nvSpPr>
        <p:spPr>
          <a:xfrm>
            <a:off x="8001000" y="4882896"/>
            <a:ext cx="1353312" cy="521208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3A2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82" name=""/>
          <p:cNvSpPr>
            <a:spLocks noGrp="1"/>
          </p:cNvSpPr>
          <p:nvPr>
            <p:ph/>
          </p:nvPr>
        </p:nvSpPr>
        <p:spPr>
          <a:xfrm>
            <a:off x="8028432" y="4974336"/>
            <a:ext cx="1298448" cy="347472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15228</a:t>
            </a:r>
          </a:p>
        </p:txBody>
      </p:sp>
      <p:sp>
        <p:nvSpPr>
          <p:cNvPr id="83" name=""/>
          <p:cNvSpPr>
            <a:spLocks noGrp="1"/>
          </p:cNvSpPr>
          <p:nvPr>
            <p:ph/>
          </p:nvPr>
        </p:nvSpPr>
        <p:spPr>
          <a:xfrm>
            <a:off x="228600" y="5486400"/>
            <a:ext cx="868680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R$ bilhões — variação acumulada vs. 2018 (efeitos diretos + indiretos via multiplicador Leontief)</a:t>
            </a:r>
          </a:p>
        </p:txBody>
      </p:sp>
      <p:sp>
        <p:nvSpPr>
          <p:cNvPr id="84" name=""/>
          <p:cNvSpPr>
            <a:spLocks noGrp="1"/>
          </p:cNvSpPr>
          <p:nvPr>
            <p:ph/>
          </p:nvPr>
        </p:nvSpPr>
        <p:spPr>
          <a:xfrm>
            <a:off x="228600" y="5852160"/>
            <a:ext cx="868680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Decomposição: GDP scaling (Base)  +  Investimento (E1b)  +  Eficiência energética (E2)  +  Produção física (E3)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Dashboard Interativo — Exploração de Cenários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914400"/>
            <a:ext cx="8595360" cy="5029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0D2A1E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274320" y="978408"/>
            <a:ext cx="859536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300" i="0" b="1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🌐  cludovique.github.io/brazil-climate-macro-model/mma_scenarios_dashboard.html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182880" y="1508760"/>
            <a:ext cx="1691640" cy="4983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274320" y="1554480"/>
            <a:ext cx="1508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22860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1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22860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Produção Total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29260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Trajetória R$ tri: Base vs 25D vs 100D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KPIs: nível absoluto + prêmio ± %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Toggle R$ tri ou % vs 2018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Decomp. por grupo de setor (GRP7)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1965960" y="1508760"/>
            <a:ext cx="1691640" cy="4983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2057400" y="1554480"/>
            <a:ext cx="1508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78ADD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201168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2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201168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PIB e Emprego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207568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VA (PIB) total e prêmio de transição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Emprego: base + 100D + prêmio direto/indireto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Nível absoluto de empregos setores de energia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Decomposição por fonte de choque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3749040" y="1508760"/>
            <a:ext cx="1691640" cy="4983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3840480" y="1554480"/>
            <a:ext cx="1508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379476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3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379476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Análise Setorial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385876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Top 15 setores por ΔProdução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Tabela completa 73 setores filtrável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Linkages: BL/FL antes e após 100D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Coeficientes técnicos A* por setor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5532120" y="1508760"/>
            <a:ext cx="1691640" cy="4983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5623560" y="1554480"/>
            <a:ext cx="1508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557784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4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557784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Mix Energético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564184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Trajetória % eletricidade/bio/fóssil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Por sub-setor MMA (Ferro, Cimento, Transp.)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Coef. A* base vs cenário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ALPHA: impacto em ktep por fonte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7315200" y="1508760"/>
            <a:ext cx="1691640" cy="4983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7406640" y="1554480"/>
            <a:ext cx="1508760" cy="54864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29" name=""/>
          <p:cNvSpPr>
            <a:spLocks noGrp="1"/>
          </p:cNvSpPr>
          <p:nvPr>
            <p:ph/>
          </p:nvPr>
        </p:nvSpPr>
        <p:spPr>
          <a:xfrm>
            <a:off x="7360920" y="1627632"/>
            <a:ext cx="1600200" cy="292608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1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Tab 5</a:t>
            </a:r>
          </a:p>
        </p:txBody>
      </p:sp>
      <p:sp>
        <p:nvSpPr>
          <p:cNvPr id="30" name=""/>
          <p:cNvSpPr>
            <a:spLocks noGrp="1"/>
          </p:cNvSpPr>
          <p:nvPr>
            <p:ph/>
          </p:nvPr>
        </p:nvSpPr>
        <p:spPr>
          <a:xfrm>
            <a:off x="7360920" y="1938528"/>
            <a:ext cx="16002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Premissas &amp; Dados</a:t>
            </a:r>
          </a:p>
        </p:txBody>
      </p:sp>
      <p:sp>
        <p:nvSpPr>
          <p:cNvPr id="31" name=""/>
          <p:cNvSpPr>
            <a:spLocks noGrp="1"/>
          </p:cNvSpPr>
          <p:nvPr>
            <p:ph/>
          </p:nvPr>
        </p:nvSpPr>
        <p:spPr>
          <a:xfrm>
            <a:off x="7424928" y="2468880"/>
            <a:ext cx="1508760" cy="3840480"/>
          </a:xfrm>
        </p:spPr>
        <p:txBody>
          <a:bodyPr/>
          <a:lstStyle/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Produção física por produto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Decomposição demanda final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Multiplicadores Type I/II</a:t>
            </a:r>
          </a:p>
          <a:p>
            <a:pPr algn="l" marL="8890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• Mapeamento setorial e premissas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0" y="0"/>
            <a:ext cx="9144000" cy="82296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91440"/>
            <a:ext cx="822960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Agenda de Pesquisa &amp; Colaboração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182880" y="914400"/>
            <a:ext cx="4297680" cy="5715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65760" y="987552"/>
            <a:ext cx="39319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F39C12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Lacunas do Modelo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411480" y="150876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Calibração ALOC_INV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411480" y="181051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Pesos de FBCF por setor são premissas manuais. Precisam ser derivados do detalhamento por tema/tecnologia do Plano MMA (eólica, solar, VEs, biocombustíveis…) mapeado para códigos IO.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411480" y="251460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Coeficiente A[S22, S43]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411480" y="281635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 aumento de insumos de biomassa na produção de biometano (S43) não está implementado por falta de coef. técnico (ktep biomassa / PJ biometano). Fonte sugerida: EPE BEN ou ANP.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411480" y="352044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Engine 4 — Satélite de Emissões</a:t>
            </a:r>
          </a:p>
        </p:txBody>
      </p:sp>
      <p:sp>
        <p:nvSpPr>
          <p:cNvPr id="12" name=""/>
          <p:cNvSpPr>
            <a:spLocks noGrp="1"/>
          </p:cNvSpPr>
          <p:nvPr>
            <p:ph/>
          </p:nvPr>
        </p:nvSpPr>
        <p:spPr>
          <a:xfrm>
            <a:off x="411480" y="382219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Conta satélite de MtCO₂e por setor está desativada. Requer coef. de intensidade de carbono por fonte × setor, calibrados com inventário SEEG/MCTI.</a:t>
            </a:r>
          </a:p>
        </p:txBody>
      </p:sp>
      <p:sp>
        <p:nvSpPr>
          <p:cNvPr id="13" name=""/>
          <p:cNvSpPr>
            <a:spLocks noGrp="1"/>
          </p:cNvSpPr>
          <p:nvPr>
            <p:ph/>
          </p:nvPr>
        </p:nvSpPr>
        <p:spPr>
          <a:xfrm>
            <a:off x="411480" y="452628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Componente residencial de Cidades</a:t>
            </a:r>
          </a:p>
        </p:txBody>
      </p:sp>
      <p:sp>
        <p:nvSpPr>
          <p:cNvPr id="14" name=""/>
          <p:cNvSpPr>
            <a:spLocks noGrp="1"/>
          </p:cNvSpPr>
          <p:nvPr>
            <p:ph/>
          </p:nvPr>
        </p:nvSpPr>
        <p:spPr>
          <a:xfrm>
            <a:off x="411480" y="482803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Uso energético domiciliar é demanda final (famílias), não insumo intermediário. Modelagem correta requer choque direto no vetor f (coluna Famílias) da MIP.</a:t>
            </a:r>
          </a:p>
        </p:txBody>
      </p:sp>
      <p:sp>
        <p:nvSpPr>
          <p:cNvPr id="15" name=""/>
          <p:cNvSpPr>
            <a:spLocks noGrp="1"/>
          </p:cNvSpPr>
          <p:nvPr>
            <p:ph/>
          </p:nvPr>
        </p:nvSpPr>
        <p:spPr>
          <a:xfrm>
            <a:off x="411480" y="553212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Validação com EPE BEN</a:t>
            </a:r>
          </a:p>
        </p:txBody>
      </p:sp>
      <p:sp>
        <p:nvSpPr>
          <p:cNvPr id="16" name=""/>
          <p:cNvSpPr>
            <a:spLocks noGrp="1"/>
          </p:cNvSpPr>
          <p:nvPr>
            <p:ph/>
          </p:nvPr>
        </p:nvSpPr>
        <p:spPr>
          <a:xfrm>
            <a:off x="411480" y="583387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Coeficientes ALPHA foram construídos com dados EPE 2018. Recomenda-se confronto com série histórica do BEN e BEU setorial para confirmar consistência e atualizar base.</a:t>
            </a:r>
          </a:p>
        </p:txBody>
      </p:sp>
      <p:sp>
        <p:nvSpPr>
          <p:cNvPr id="17" name=""/>
          <p:cNvSpPr>
            <a:spLocks noGrp="1"/>
          </p:cNvSpPr>
          <p:nvPr>
            <p:ph/>
          </p:nvPr>
        </p:nvSpPr>
        <p:spPr>
          <a:xfrm>
            <a:off x="4663440" y="914400"/>
            <a:ext cx="4297680" cy="5715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A284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18" name=""/>
          <p:cNvSpPr>
            <a:spLocks noGrp="1"/>
          </p:cNvSpPr>
          <p:nvPr>
            <p:ph/>
          </p:nvPr>
        </p:nvSpPr>
        <p:spPr>
          <a:xfrm>
            <a:off x="4846320" y="987552"/>
            <a:ext cx="39319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Como Colaborar</a:t>
            </a:r>
          </a:p>
        </p:txBody>
      </p:sp>
      <p:sp>
        <p:nvSpPr>
          <p:cNvPr id="19" name=""/>
          <p:cNvSpPr>
            <a:spLocks noGrp="1"/>
          </p:cNvSpPr>
          <p:nvPr>
            <p:ph/>
          </p:nvPr>
        </p:nvSpPr>
        <p:spPr>
          <a:xfrm>
            <a:off x="4892040" y="150876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Dados EPE BEN setoriais</a:t>
            </a:r>
          </a:p>
        </p:txBody>
      </p:sp>
      <p:sp>
        <p:nvSpPr>
          <p:cNvPr id="20" name=""/>
          <p:cNvSpPr>
            <a:spLocks noGrp="1"/>
          </p:cNvSpPr>
          <p:nvPr>
            <p:ph/>
          </p:nvPr>
        </p:nvSpPr>
        <p:spPr>
          <a:xfrm>
            <a:off x="4892040" y="181051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Série histórica de consumo energético por setor e por fonte (BEN/BEU), para calibrar e validar a matriz ALPHA de intensidade energética.</a:t>
            </a:r>
          </a:p>
        </p:txBody>
      </p:sp>
      <p:sp>
        <p:nvSpPr>
          <p:cNvPr id="21" name=""/>
          <p:cNvSpPr>
            <a:spLocks noGrp="1"/>
          </p:cNvSpPr>
          <p:nvPr>
            <p:ph/>
          </p:nvPr>
        </p:nvSpPr>
        <p:spPr>
          <a:xfrm>
            <a:off x="4892040" y="251460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Coeficientes de processo industrial</a:t>
            </a:r>
          </a:p>
        </p:txBody>
      </p:sp>
      <p:sp>
        <p:nvSpPr>
          <p:cNvPr id="22" name=""/>
          <p:cNvSpPr>
            <a:spLocks noGrp="1"/>
          </p:cNvSpPr>
          <p:nvPr>
            <p:ph/>
          </p:nvPr>
        </p:nvSpPr>
        <p:spPr>
          <a:xfrm>
            <a:off x="4892040" y="281635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Coef. técnicos de entrada de biomassa/H₂ para siderurgia e cimento (EPE, IPT, IABR, SNIC) — necessários para Engine 2 desagregado por produto.</a:t>
            </a:r>
          </a:p>
        </p:txBody>
      </p:sp>
      <p:sp>
        <p:nvSpPr>
          <p:cNvPr id="23" name=""/>
          <p:cNvSpPr>
            <a:spLocks noGrp="1"/>
          </p:cNvSpPr>
          <p:nvPr>
            <p:ph/>
          </p:nvPr>
        </p:nvSpPr>
        <p:spPr>
          <a:xfrm>
            <a:off x="4892040" y="352044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Confronto com modelos BLUES / MAED-BR</a:t>
            </a:r>
          </a:p>
        </p:txBody>
      </p:sp>
      <p:sp>
        <p:nvSpPr>
          <p:cNvPr id="24" name=""/>
          <p:cNvSpPr>
            <a:spLocks noGrp="1"/>
          </p:cNvSpPr>
          <p:nvPr>
            <p:ph/>
          </p:nvPr>
        </p:nvSpPr>
        <p:spPr>
          <a:xfrm>
            <a:off x="4892040" y="382219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Validação cruzada das trajetórias de mix setorial com resultados BLUES/EPE para checar coerência dos scale factors do Engine 2.</a:t>
            </a:r>
          </a:p>
        </p:txBody>
      </p:sp>
      <p:sp>
        <p:nvSpPr>
          <p:cNvPr id="25" name=""/>
          <p:cNvSpPr>
            <a:spLocks noGrp="1"/>
          </p:cNvSpPr>
          <p:nvPr>
            <p:ph/>
          </p:nvPr>
        </p:nvSpPr>
        <p:spPr>
          <a:xfrm>
            <a:off x="4892040" y="452628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Extensão: LULUCF e Agropecuária</a:t>
            </a:r>
          </a:p>
        </p:txBody>
      </p:sp>
      <p:sp>
        <p:nvSpPr>
          <p:cNvPr id="26" name=""/>
          <p:cNvSpPr>
            <a:spLocks noGrp="1"/>
          </p:cNvSpPr>
          <p:nvPr>
            <p:ph/>
          </p:nvPr>
        </p:nvSpPr>
        <p:spPr>
          <a:xfrm>
            <a:off x="4892040" y="482803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Modelos biofísicos de uso da terra → choques IO nos setores S01-S09 (agricultura, pecuária, silvicultura) com dados de área e produtividade MMA.</a:t>
            </a:r>
          </a:p>
        </p:txBody>
      </p:sp>
      <p:sp>
        <p:nvSpPr>
          <p:cNvPr id="27" name=""/>
          <p:cNvSpPr>
            <a:spLocks noGrp="1"/>
          </p:cNvSpPr>
          <p:nvPr>
            <p:ph/>
          </p:nvPr>
        </p:nvSpPr>
        <p:spPr>
          <a:xfrm>
            <a:off x="4892040" y="5532120"/>
            <a:ext cx="3840480" cy="3200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1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Análise de incerteza / sensibilidade</a:t>
            </a:r>
          </a:p>
        </p:txBody>
      </p:sp>
      <p:sp>
        <p:nvSpPr>
          <p:cNvPr id="28" name=""/>
          <p:cNvSpPr>
            <a:spLocks noGrp="1"/>
          </p:cNvSpPr>
          <p:nvPr>
            <p:ph/>
          </p:nvPr>
        </p:nvSpPr>
        <p:spPr>
          <a:xfrm>
            <a:off x="4892040" y="5833872"/>
            <a:ext cx="3840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0" b="0" u="none" strike="noStrike">
                <a:solidFill>
                  <a:srgbClr val="E8ECF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Sensibilidade dos prêmios de PIB e emprego às premissas de ALOC_INV, taxas de crescimento e trajetórias de mix energético (análise paramétrica ou Monte Carlo).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C2B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320040" y="1828800"/>
            <a:ext cx="73152" cy="3200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" i="0" b="0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/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914400" y="1920240"/>
            <a:ext cx="8229600" cy="914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i="0" b="1" u="none" strike="noStrike">
                <a:solidFill>
                  <a:srgbClr val="1D9E7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Obrigada!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914400" y="2926080"/>
            <a:ext cx="777240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500" i="0" b="0" u="none" strike="noStrike">
                <a:solidFill>
                  <a:srgbClr val="FFFFFF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Código aberto — comentários, críticas e contribuições são bem-vindos.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914400" y="3611880"/>
            <a:ext cx="26517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🔗 GitHub (código e dados):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566160" y="3611880"/>
            <a:ext cx="53035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github.com/cludovique/brazil-climate-macro-model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914400" y="4251960"/>
            <a:ext cx="26517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🌐 Dashboard interativo: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3566160" y="4251960"/>
            <a:ext cx="53035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cludovique.github.io/brazil-climate-macro-model/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914400" y="4892040"/>
            <a:ext cx="265176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8A9BB0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📊 Cenários MMA: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566160" y="4892040"/>
            <a:ext cx="530352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3DC49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MMA-SMC v3 AR5 (07/10/2024)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2026-06-01T16:42:32Z</dcterms:modified>
  <cp:category/>
</cp:coreProperties>
</file>